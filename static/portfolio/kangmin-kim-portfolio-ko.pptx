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685800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93B4F5"/>
                </a:solidFill>
                <a:latin typeface="Pretendard"/>
                <a:ea typeface="Pretendard"/>
              </a:rPr>
              <a:t>TECHNICAL PORTFOLIO · 2026 · PERSONAL REPOSITORIES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789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Pretendard"/>
                <a:ea typeface="Pretendard"/>
              </a:rPr>
              <a:t>보안 × AI 엔지니어  김강민</a:t>
            </a:r>
          </a:p>
          <a:p>
            <a:pPr algn="l"/>
            <a:r>
              <a:rPr sz="1700" b="0">
                <a:solidFill>
                  <a:srgbClr val="C9D6EE"/>
                </a:solidFill>
                <a:latin typeface="Pretendard"/>
                <a:ea typeface="Pretendard"/>
              </a:rPr>
              <a:t>SIEM · SOAR · EDR · 포렌식을 제품에서 개발하고, 같은 것을 개인 서버에 처음부터 조립했다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A8B8D8"/>
                </a:solidFill>
                <a:latin typeface="Pretendard"/>
                <a:ea typeface="Pretendard"/>
              </a:rPr>
              <a:t>이 덱의 모든 자료는 개인 저장소(github.com/adorahelen · 26개)에서 나온다 — 회사 산출물 0건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074920"/>
            <a:ext cx="1228039" cy="310896"/>
          </a:xfrm>
          <a:prstGeom prst="roundRect">
            <a:avLst>
              <a:gd name="adj" fmla="val 50000"/>
            </a:avLst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BFD2F2"/>
                </a:solidFill>
                <a:latin typeface="Pretendard"/>
                <a:ea typeface="Pretendard"/>
              </a:rPr>
              <a:t>SIEM / SOAR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79015" y="5074920"/>
            <a:ext cx="1228039" cy="310896"/>
          </a:xfrm>
          <a:prstGeom prst="roundRect">
            <a:avLst>
              <a:gd name="adj" fmla="val 50000"/>
            </a:avLst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BFD2F2"/>
                </a:solidFill>
                <a:latin typeface="Pretendard"/>
                <a:ea typeface="Pretendard"/>
              </a:rPr>
              <a:t>EDR · 엔드포인트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5070" y="5074920"/>
            <a:ext cx="887882" cy="310896"/>
          </a:xfrm>
          <a:prstGeom prst="roundRect">
            <a:avLst>
              <a:gd name="adj" fmla="val 50000"/>
            </a:avLst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BFD2F2"/>
                </a:solidFill>
                <a:latin typeface="Pretendard"/>
                <a:ea typeface="Pretendard"/>
              </a:rPr>
              <a:t>디지털 포렌식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0968" y="5074920"/>
            <a:ext cx="1057960" cy="310896"/>
          </a:xfrm>
          <a:prstGeom prst="roundRect">
            <a:avLst>
              <a:gd name="adj" fmla="val 50000"/>
            </a:avLst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BFD2F2"/>
                </a:solidFill>
                <a:latin typeface="Pretendard"/>
                <a:ea typeface="Pretendard"/>
              </a:rPr>
              <a:t>온프레미스 LLM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36944" y="5074920"/>
            <a:ext cx="1738274" cy="310896"/>
          </a:xfrm>
          <a:prstGeom prst="roundRect">
            <a:avLst>
              <a:gd name="adj" fmla="val 50000"/>
            </a:avLst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BFD2F2"/>
                </a:solidFill>
                <a:latin typeface="Pretendard"/>
                <a:ea typeface="Pretendard"/>
              </a:rPr>
              <a:t>Go · Python · C++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03234" y="5074920"/>
            <a:ext cx="802843" cy="310896"/>
          </a:xfrm>
          <a:prstGeom prst="roundRect">
            <a:avLst>
              <a:gd name="adj" fmla="val 50000"/>
            </a:avLst>
          </a:prstGeom>
          <a:solidFill>
            <a:srgbClr val="1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BFD2F2"/>
                </a:solidFill>
                <a:latin typeface="Pretendard"/>
                <a:ea typeface="Pretendard"/>
              </a:rPr>
              <a:t>홈서버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  <a:ea typeface="Pretendard"/>
              </a:rPr>
              <a:t>github.com/adorahelen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Pretendard"/>
                <a:ea typeface="Pretendard"/>
              </a:rPr>
              <a:t>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Pretendard"/>
                <a:ea typeface="Pretendard"/>
              </a:rPr>
              <a:t>프로필 — 실무에서 만드는 것을, 집에서 처음부터 조립한다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7A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60350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Pretendard"/>
                <a:ea typeface="Pretendard"/>
              </a:rPr>
              <a:t>SIEM·SOAR 솔루션 기업의 보안/AI 엔지니어. 경력 1년 3개월.</a:t>
            </a:r>
          </a:p>
          <a:p>
            <a:pPr algn="l"/>
            <a:r>
              <a:rPr sz="1300" b="1">
                <a:solidFill>
                  <a:srgbClr val="1E40AF"/>
                </a:solidFill>
                <a:latin typeface="Pretendard"/>
                <a:ea typeface="Pretendard"/>
              </a:rPr>
              <a:t>"도구를 써봤다"가 아니라 "같은 것을 직접 만들어 한계를 확인했다"가 이 덱의 내용.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606040"/>
            <a:ext cx="45720" cy="301752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651760"/>
            <a:ext cx="192024" cy="19202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606040"/>
            <a:ext cx="5669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F2A44"/>
                </a:solidFill>
                <a:latin typeface="Pretendard"/>
                <a:ea typeface="Pretendard"/>
              </a:rPr>
              <a:t>현 재직사 — SIEM/SOAR 솔루션 기업 (2026.02 ~)</a:t>
            </a:r>
          </a:p>
          <a:p>
            <a:pPr algn="l"/>
            <a:r>
              <a:rPr sz="1100" b="0">
                <a:solidFill>
                  <a:srgbClr val="5B667A"/>
                </a:solidFill>
                <a:latin typeface="Pretendard"/>
                <a:ea typeface="Pretendard"/>
              </a:rPr>
              <a:t>AI 보안 엔지니어 · 7인 팀</a:t>
            </a:r>
          </a:p>
          <a:p>
            <a:pPr algn="l"/>
            <a:r>
              <a:rPr sz="1100" b="0">
                <a:solidFill>
                  <a:srgbClr val="1F2A44"/>
                </a:solidFill>
                <a:latin typeface="Pretendard"/>
                <a:ea typeface="Pretendard"/>
              </a:rPr>
              <a:t>관측성 플랫폼과 LLM 어시스턴트 개발. 담당 서술은 이력서 참조 —</a:t>
            </a:r>
          </a:p>
          <a:p>
            <a:pPr algn="l"/>
            <a:r>
              <a:rPr sz="1100" b="0">
                <a:solidFill>
                  <a:srgbClr val="1F2A44"/>
                </a:solidFill>
                <a:latin typeface="Pretendard"/>
                <a:ea typeface="Pretendard"/>
              </a:rPr>
              <a:t>제품 코드·구조·화면은 이 덱에 일절 넣지 않는다.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251959"/>
            <a:ext cx="192024" cy="19202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206240"/>
            <a:ext cx="5669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F2A44"/>
                </a:solidFill>
                <a:latin typeface="Pretendard"/>
                <a:ea typeface="Pretendard"/>
              </a:rPr>
              <a:t>전 직장 — DLP·데이터 보안 기업 (2024.12 ~ 2025.08)</a:t>
            </a:r>
          </a:p>
          <a:p>
            <a:pPr algn="l"/>
            <a:r>
              <a:rPr sz="1100" b="0">
                <a:solidFill>
                  <a:srgbClr val="5B667A"/>
                </a:solidFill>
                <a:latin typeface="Pretendard"/>
                <a:ea typeface="Pretendard"/>
              </a:rPr>
              <a:t>보안 엔지니어</a:t>
            </a:r>
          </a:p>
          <a:p>
            <a:pPr algn="l"/>
            <a:r>
              <a:rPr sz="1100" b="0">
                <a:solidFill>
                  <a:srgbClr val="1F2A44"/>
                </a:solidFill>
                <a:latin typeface="Pretendard"/>
                <a:ea typeface="Pretendard"/>
              </a:rPr>
              <a:t>개인정보 탐지 솔루션. 대용량 파일 API Redis 캐싱으로 응답 80% 단축,</a:t>
            </a:r>
          </a:p>
          <a:p>
            <a:pPr algn="l"/>
            <a:r>
              <a:rPr sz="1100" b="0">
                <a:solidFill>
                  <a:srgbClr val="1F2A44"/>
                </a:solidFill>
                <a:latin typeface="Pretendard"/>
                <a:ea typeface="Pretendard"/>
              </a:rPr>
              <a:t>NER 기반 비정형 데이터 탐지 범위 확장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1417320"/>
            <a:ext cx="4480560" cy="2331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1627632"/>
            <a:ext cx="4023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40AF"/>
                </a:solidFill>
                <a:latin typeface="Pretendard"/>
                <a:ea typeface="Pretendard"/>
              </a:rPr>
              <a:t>학술 · 수상</a:t>
            </a:r>
          </a:p>
          <a:p>
            <a:pPr algn="l"/>
            <a:r>
              <a:rPr sz="1100" b="0">
                <a:solidFill>
                  <a:srgbClr val="1F2A44"/>
                </a:solidFill>
                <a:latin typeface="Pretendard"/>
                <a:ea typeface="Pretendard"/>
              </a:rPr>
              <a:t>제1저자 논문 — "디지털 포렌식 관점에서의 Threads 사용자 행위 분석"</a:t>
            </a:r>
          </a:p>
          <a:p>
            <a:pPr algn="l"/>
            <a:r>
              <a:rPr sz="1050" b="0">
                <a:solidFill>
                  <a:srgbClr val="5B667A"/>
                </a:solidFill>
                <a:latin typeface="Pretendard"/>
                <a:ea typeface="Pretendard"/>
              </a:rPr>
              <a:t>한국정보보호학회 동계학술대회(CISC-W'25) 구두발표 · 논문번호 328</a:t>
            </a:r>
          </a:p>
          <a:p>
            <a:pPr algn="l"/>
            <a:r>
              <a:rPr sz="1150" b="1">
                <a:solidFill>
                  <a:srgbClr val="1E40AF"/>
                </a:solidFill>
                <a:latin typeface="Pretendard"/>
                <a:ea typeface="Pretendard"/>
              </a:rPr>
              <a:t>KISTI 한국과학기술정보연구원 원장상 수상</a:t>
            </a:r>
          </a:p>
          <a:p>
            <a:pPr algn="l"/>
            <a:r>
              <a:rPr sz="1100" b="0">
                <a:solidFill>
                  <a:srgbClr val="1F2A44"/>
                </a:solidFill>
                <a:latin typeface="Pretendard"/>
                <a:ea typeface="Pretendard"/>
              </a:rPr>
              <a:t>어학 — JLPT N1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3977639"/>
            <a:ext cx="44805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4187952"/>
            <a:ext cx="4023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40AF"/>
                </a:solidFill>
                <a:latin typeface="Pretendard"/>
                <a:ea typeface="Pretendard"/>
              </a:rPr>
              <a:t>개인 저장소 실측 (adorahelen 26개)</a:t>
            </a:r>
          </a:p>
          <a:p>
            <a:pPr algn="l"/>
            <a:r>
              <a:rPr sz="1100" b="0">
                <a:solidFill>
                  <a:srgbClr val="1F2A44"/>
                </a:solidFill>
                <a:latin typeface="Pretendard"/>
                <a:ea typeface="Pretendard"/>
              </a:rPr>
              <a:t>본인 코드 286,062줄 — 벤더 라이브러리·업무 산출물 제외 후 전수 클론 계측</a:t>
            </a:r>
          </a:p>
          <a:p>
            <a:pPr algn="l"/>
            <a:r>
              <a:rPr sz="1100" b="0">
                <a:solidFill>
                  <a:srgbClr val="1F2A44"/>
                </a:solidFill>
                <a:latin typeface="Pretendard"/>
                <a:ea typeface="Pretendard"/>
              </a:rPr>
              <a:t>코드 파일 1,801 · 테스트 165 · 문서(MD) 973 · GitHub Actions 5개 저장소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Pretendard"/>
                <a:ea typeface="Pretendard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Pretendard"/>
                <a:ea typeface="Pretendard"/>
              </a:rPr>
              <a:t>프로젝트 맵 — 개인 저장소 6선 (전부 adorahelen)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7A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3584448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72768"/>
            <a:ext cx="3584448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92224"/>
            <a:ext cx="3154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Pretendard"/>
                <a:ea typeface="Pretendard"/>
              </a:rPr>
              <a:t>SIEM-Trinity</a:t>
            </a:r>
            <a:r>
              <a:rPr sz="1000" b="0">
                <a:solidFill>
                  <a:srgbClr val="5B667A"/>
                </a:solidFill>
                <a:latin typeface="Pretendard"/>
                <a:ea typeface="Pretendard"/>
              </a:rPr>
              <a:t>   자작 XDR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231136"/>
            <a:ext cx="31546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홈서버 1대에 수집·탐지·분석·대응 4계층 + SOC 콘솔을 올린 모노레포. 공개판 siem-trinity-public 별도 유지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35584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E40AF"/>
                </a:solidFill>
                <a:latin typeface="Pretendard"/>
                <a:ea typeface="Pretendard"/>
              </a:rPr>
              <a:t>자동대응 6단계 · 컨테이너 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572768"/>
            <a:ext cx="3584448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25696" y="1572768"/>
            <a:ext cx="3584448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4296" y="1792224"/>
            <a:ext cx="3154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Pretendard"/>
                <a:ea typeface="Pretendard"/>
              </a:rPr>
              <a:t>abliteration 재현</a:t>
            </a:r>
            <a:r>
              <a:rPr sz="1000" b="0">
                <a:solidFill>
                  <a:srgbClr val="5B667A"/>
                </a:solidFill>
                <a:latin typeface="Pretendard"/>
                <a:ea typeface="Pretendard"/>
              </a:rPr>
              <a:t>   AI 보안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2231136"/>
            <a:ext cx="31546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LLM 거부 정렬이 단일 방향으로 무너지는지 논문 재현·측정. 거부 방향을 탐지 신호로 역이용하는 방어 관점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4296" y="335584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E40AF"/>
                </a:solidFill>
                <a:latin typeface="Pretendard"/>
                <a:ea typeface="Pretendard"/>
              </a:rPr>
              <a:t>거부율 1.00→0.00 · 공개 발행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1572768"/>
            <a:ext cx="3584448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4" y="1572768"/>
            <a:ext cx="3584448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1624" y="1792224"/>
            <a:ext cx="3154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Pretendard"/>
                <a:ea typeface="Pretendard"/>
              </a:rPr>
              <a:t>edr-lab</a:t>
            </a:r>
            <a:r>
              <a:rPr sz="1000" b="0">
                <a:solidFill>
                  <a:srgbClr val="5B667A"/>
                </a:solidFill>
                <a:latin typeface="Pretendard"/>
                <a:ea typeface="Pretendard"/>
              </a:rPr>
              <a:t>   엔드포인트 센서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2231136"/>
            <a:ext cx="31546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커널 드라이버 없이 Ring 3에서 어디까지 관측되는가. 프로세스·파일·네트워크·레지스트리 + 포렌식 수집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1624" y="335584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E40AF"/>
                </a:solidFill>
                <a:latin typeface="Pretendard"/>
                <a:ea typeface="Pretendard"/>
              </a:rPr>
              <a:t>C++ 2,840줄 · 규칙 14종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968496"/>
            <a:ext cx="3584448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968496"/>
            <a:ext cx="3584448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187952"/>
            <a:ext cx="3154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Pretendard"/>
                <a:ea typeface="Pretendard"/>
              </a:rPr>
              <a:t>security-labs</a:t>
            </a:r>
            <a:r>
              <a:rPr sz="1000" b="0">
                <a:solidFill>
                  <a:srgbClr val="5B667A"/>
                </a:solidFill>
                <a:latin typeface="Pretendard"/>
                <a:ea typeface="Pretendard"/>
              </a:rPr>
              <a:t>   포렌식 · 암호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4626864"/>
            <a:ext cx="31546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Threads 앱 포렌식(수상 논문 기반) · Windows 브라우저 포렌식 · AES-128 직접 구현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5751576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E40AF"/>
                </a:solidFill>
                <a:latin typeface="Pretendard"/>
                <a:ea typeface="Pretendard"/>
              </a:rPr>
              <a:t>KISTI 원장상 · CAVP 검증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25696" y="3968496"/>
            <a:ext cx="3584448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25696" y="3968496"/>
            <a:ext cx="3584448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54296" y="4187952"/>
            <a:ext cx="3154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Pretendard"/>
                <a:ea typeface="Pretendard"/>
              </a:rPr>
              <a:t>agent-console</a:t>
            </a:r>
            <a:r>
              <a:rPr sz="1000" b="0">
                <a:solidFill>
                  <a:srgbClr val="5B667A"/>
                </a:solidFill>
                <a:latin typeface="Pretendard"/>
                <a:ea typeface="Pretendard"/>
              </a:rPr>
              <a:t>   온프레미스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54296" y="4626864"/>
            <a:ext cx="31546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엔진은 고정, 도메인은 카트리지(프롬프트·지식·모델)로 교체하는 에이전트 콘솔. 보안관제 도메인 카트리지 포함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4296" y="5751576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E40AF"/>
                </a:solidFill>
                <a:latin typeface="Pretendard"/>
                <a:ea typeface="Pretendard"/>
              </a:rPr>
              <a:t>Python 70,424줄 · 테스트 55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93024" y="3968496"/>
            <a:ext cx="3584448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93024" y="3968496"/>
            <a:ext cx="3584448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21624" y="4187952"/>
            <a:ext cx="3154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Pretendard"/>
                <a:ea typeface="Pretendard"/>
              </a:rPr>
              <a:t>운영 · 인프라</a:t>
            </a:r>
            <a:r>
              <a:rPr sz="1000" b="0">
                <a:solidFill>
                  <a:srgbClr val="5B667A"/>
                </a:solidFill>
                <a:latin typeface="Pretendard"/>
                <a:ea typeface="Pretendard"/>
              </a:rPr>
              <a:t>   fossil-fuel · ops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1624" y="4626864"/>
            <a:ext cx="31546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AWS 5개월 운영 → 미니 PC 1대 이전(고정비 0원). 홈서버 인시던트 6건·런북 9종 기록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21624" y="5751576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E40AF"/>
                </a:solidFill>
                <a:latin typeface="Pretendard"/>
                <a:ea typeface="Pretendard"/>
              </a:rPr>
              <a:t>쓰기증폭 700배 사고 해결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Pretendard"/>
                <a:ea typeface="Pretendard"/>
              </a:rPr>
              <a:t>PROJECT 01 · 개인 (adorahelen/siem-trinity)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Pretendard"/>
                <a:ea typeface="Pretendard"/>
              </a:rPr>
              <a:t>SIEM-Trinity — 홈서버 1대로 굴리는 자작 XDR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7A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E40AF"/>
                </a:solidFill>
                <a:latin typeface="Pretendard"/>
                <a:ea typeface="Pretendard"/>
              </a:rPr>
              <a:t>수집·탐지·분석·대응 4계층과 SOC 콘솔을 한 모노레포에 넣고, 상용 XDR이 하는 일을 오픈소스로 재현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594360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150" b="0">
                <a:solidFill>
                  <a:srgbClr val="1F2A44"/>
                </a:solidFill>
                <a:latin typeface="Pretendard"/>
                <a:ea typeface="Pretendard"/>
              </a:rPr>
              <a:t>4계층 모노레포 — 01 수집(Zeek·Suricata·Wazuh) / 02 탐지(FastAPI BFF·ML 4종) / 03 분석(Ollama·ChromaDB) / 04 UI(TrinitySOC)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150" b="0">
                <a:solidFill>
                  <a:srgbClr val="1F2A44"/>
                </a:solidFill>
                <a:latin typeface="Pretendard"/>
                <a:ea typeface="Pretendard"/>
              </a:rPr>
              <a:t>XDR 자동 대응 체인 6단계를 코드로 완성 — Wazuh 가시성 → fail2ban 차단 → active-response → MISP IOC → Shuffle SOAR → TheHive 케이스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150" b="0">
                <a:solidFill>
                  <a:srgbClr val="1F2A44"/>
                </a:solidFill>
                <a:latin typeface="Pretendard"/>
                <a:ea typeface="Pretendard"/>
              </a:rPr>
              <a:t>6단계 전부 구현했으나 운영 토글은 안전상 OFF(dry-run) — 오탐 자동 차단이 자기 서비스를 끊는 위험을 인정하고 기본값을 보수적으로 잡았다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150" b="0">
                <a:solidFill>
                  <a:srgbClr val="1F2A44"/>
                </a:solidFill>
                <a:latin typeface="Pretendard"/>
                <a:ea typeface="Pretendard"/>
              </a:rPr>
              <a:t>LLM 알람 분석은 4섹션 구조 프롬프트(요약·공격체인·위험평가·권장대응)로 고정해 환각을 구조로 억제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150" b="0">
                <a:solidFill>
                  <a:srgbClr val="1F2A44"/>
                </a:solidFill>
                <a:latin typeface="Pretendard"/>
                <a:ea typeface="Pretendard"/>
              </a:rPr>
              <a:t>공개판 siem-trinity-public 별도 유지 — 1커밋 스쿼시 + 운영 호스트 자산 정보 제거 후 분리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371600"/>
            <a:ext cx="4572000" cy="4434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57276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40AF"/>
                </a:solidFill>
                <a:latin typeface="Pretendard"/>
                <a:ea typeface="Pretendard"/>
              </a:rPr>
              <a:t>핵심 성과 · 실측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011680"/>
            <a:ext cx="40690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컨테이너 10개 상시 가동, 외부 노출 포트는 콘솔 1개뿐 — 나머지 전부 localhost 바인딩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ATT&amp;CK 기법 697건을 ChromaDB에 적재해 탐지 결과와 매핑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TrinitySOC — React 18 + TypeScript strict, 위젯 23종 전부 CRUD·드래그 배치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detection-api FastAPI 엔드포인트 28개가 Loki·Prometheus를 단일 BFF로 통합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탐지 로직은 Isolation Forest·변동계수·엔트로피 등 4종을 병렬로 두고 교차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94360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B667A"/>
                </a:solidFill>
                <a:latin typeface="Pretendard"/>
                <a:ea typeface="Pretendard"/>
              </a:rPr>
              <a:t>STACK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00200" y="5888736"/>
            <a:ext cx="1228039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Python 3.12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37967" y="5888736"/>
            <a:ext cx="887882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FastAPI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5577" y="5888736"/>
            <a:ext cx="632764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Loki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78069" y="5888736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Prometheus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30797" y="5888736"/>
            <a:ext cx="717803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Wazuh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58328" y="5888736"/>
            <a:ext cx="972921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Suricata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40977" y="5888736"/>
            <a:ext cx="632764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Zeek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83469" y="5888736"/>
            <a:ext cx="1313078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scikit-learn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06275" y="5888736"/>
            <a:ext cx="802843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Ollama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00200" y="6309360"/>
            <a:ext cx="972921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ChromaDB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82849" y="6309360"/>
            <a:ext cx="972921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React 18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65498" y="6309360"/>
            <a:ext cx="1483156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Docker Compose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Pretendard"/>
                <a:ea typeface="Pretendard"/>
              </a:rPr>
              <a:t>PROJECT 01 · 개인 (adorahelen/siem-trinity)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Pretendard"/>
                <a:ea typeface="Pretendard"/>
              </a:rPr>
              <a:t>SIEM-Trinity —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7A"/>
                </a:solidFill>
                <a:latin typeface="Pretendard"/>
                <a:ea typeface="Pretendard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F2A44"/>
                </a:solidFill>
                <a:latin typeface="Pretendard"/>
                <a:ea typeface="Pretendard"/>
              </a:rPr>
              <a:t>01 수집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Zeek · Suricata · Wazuh agent
fail2ban · ufw · syslog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60020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F2A44"/>
                </a:solidFill>
                <a:latin typeface="Pretendard"/>
                <a:ea typeface="Pretendard"/>
              </a:rPr>
              <a:t>Promtail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라벨링 · 전송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6002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EAF1FD"/>
          </a:solidFill>
          <a:ln w="15875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F2A44"/>
                </a:solidFill>
                <a:latin typeface="Pretendard"/>
                <a:ea typeface="Pretendard"/>
              </a:rPr>
              <a:t>데이터 허브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Loki (로그) · Prometheus (메트릭)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9718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F2A44"/>
                </a:solidFill>
                <a:latin typeface="Pretendard"/>
                <a:ea typeface="Pretendard"/>
              </a:rPr>
              <a:t>02 detection-api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FastAPI BFF · 28 엔드포인트
ML 탐지기 4종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29718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F2A44"/>
                </a:solidFill>
                <a:latin typeface="Pretendard"/>
                <a:ea typeface="Pretendard"/>
              </a:rPr>
              <a:t>03 분석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Ollama gemma4
ChromaDB · ATT&amp;CK 697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3120" y="297180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F2A44"/>
                </a:solidFill>
                <a:latin typeface="Pretendard"/>
                <a:ea typeface="Pretendard"/>
              </a:rPr>
              <a:t>04 TrinitySOC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React 18 · 위젯 23 · 2탭 CRUD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4617720"/>
            <a:ext cx="9509760" cy="1051560"/>
          </a:xfrm>
          <a:prstGeom prst="roundRect">
            <a:avLst>
              <a:gd name="adj" fmla="val 8000"/>
            </a:avLst>
          </a:prstGeom>
          <a:solidFill>
            <a:srgbClr val="FDF6E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1F2A44"/>
                </a:solidFill>
                <a:latin typeface="Pretendard"/>
                <a:ea typeface="Pretendard"/>
              </a:rPr>
              <a:t>자동 대응 체인 6단계  (코드 6/6 · 운영 토글 OFF = dry-run)</a:t>
            </a:r>
          </a:p>
          <a:p>
            <a:pPr algn="ctr"/>
            <a:r>
              <a:rPr sz="1000" b="0">
                <a:solidFill>
                  <a:srgbClr val="5B667A"/>
                </a:solidFill>
                <a:latin typeface="Pretendard"/>
                <a:ea typeface="Pretendard"/>
              </a:rPr>
              <a:t>① Wazuh 가시성  →  ② fail2ban 자동차단  →  ③ Wazuh active-response  →  ④ MISP IOC 매칭  →  ⑤ Shuffle SOAR  →  ⑥ TheHive 케이스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26080" y="2057400"/>
            <a:ext cx="640080" cy="0"/>
          </a:xfrm>
          <a:prstGeom prst="line">
            <a:avLst/>
          </a:prstGeom>
          <a:ln w="19050">
            <a:solidFill>
              <a:srgbClr val="5B66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212080" y="2057400"/>
            <a:ext cx="640080" cy="0"/>
          </a:xfrm>
          <a:prstGeom prst="line">
            <a:avLst/>
          </a:prstGeom>
          <a:ln w="19050">
            <a:solidFill>
              <a:srgbClr val="5B66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23760" y="2514600"/>
            <a:ext cx="0" cy="457200"/>
          </a:xfrm>
          <a:prstGeom prst="line">
            <a:avLst/>
          </a:prstGeom>
          <a:ln w="19050">
            <a:solidFill>
              <a:srgbClr val="5B66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595360" y="3429000"/>
            <a:ext cx="640080" cy="0"/>
          </a:xfrm>
          <a:prstGeom prst="line">
            <a:avLst/>
          </a:prstGeom>
          <a:ln w="19050">
            <a:solidFill>
              <a:srgbClr val="5B66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120640" y="3429000"/>
            <a:ext cx="731520" cy="0"/>
          </a:xfrm>
          <a:prstGeom prst="line">
            <a:avLst/>
          </a:prstGeom>
          <a:ln w="19050">
            <a:solidFill>
              <a:srgbClr val="5B66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858000" y="3886200"/>
            <a:ext cx="365760" cy="731520"/>
          </a:xfrm>
          <a:prstGeom prst="line">
            <a:avLst/>
          </a:prstGeom>
          <a:ln w="19050">
            <a:solidFill>
              <a:srgbClr val="5B667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0" y="402336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67A"/>
                </a:solidFill>
                <a:latin typeface="Pretendard"/>
                <a:ea typeface="Pretendard"/>
              </a:rPr>
              <a:t>탐지 → 대응 호출 (기본 dry-run)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017520"/>
            <a:ext cx="1280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E40AF"/>
                </a:solidFill>
                <a:latin typeface="Pretendard"/>
                <a:ea typeface="Pretendard"/>
              </a:rPr>
              <a:t>외부 노출</a:t>
            </a:r>
          </a:p>
          <a:p>
            <a:pPr algn="l"/>
            <a:r>
              <a:rPr sz="950" b="0">
                <a:solidFill>
                  <a:srgbClr val="5B667A"/>
                </a:solidFill>
                <a:latin typeface="Pretendard"/>
                <a:ea typeface="Pretendard"/>
              </a:rPr>
              <a:t>콘솔 1포트
나머지 localhost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Pretendard"/>
                <a:ea typeface="Pretendard"/>
              </a:rPr>
              <a:t>PROJECT 02 · 개인 (adorahelen/paper-notes)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Pretendard"/>
                <a:ea typeface="Pretendard"/>
              </a:rPr>
              <a:t>LLM 정렬 취약성 실증 — abliteration 재현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7A"/>
                </a:solidFill>
                <a:latin typeface="Pretendard"/>
                <a:ea typeface="Pretendard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E40AF"/>
                </a:solidFill>
                <a:latin typeface="Pretendard"/>
                <a:ea typeface="Pretendard"/>
              </a:rPr>
              <a:t>"거부는 잔차 스트림의 단일 방향이 매개한다"(Arditi et al., 2024)를 직접 재현해, 모델의 안전이 얼마나 얇은 계층인지 수치로 측정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594360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150" b="0">
                <a:solidFill>
                  <a:srgbClr val="1F2A44"/>
                </a:solidFill>
                <a:latin typeface="Pretendard"/>
                <a:ea typeface="Pretendard"/>
              </a:rPr>
              <a:t>거부 방향 추출 — 매칭 프롬프트 쌍(유해 24 / 무해 24)의 마지막 토큰 잔차 평균차를 레이어별로 정규화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150" b="0">
                <a:solidFill>
                  <a:srgbClr val="1F2A44"/>
                </a:solidFill>
                <a:latin typeface="Pretendard"/>
                <a:ea typeface="Pretendard"/>
              </a:rPr>
              <a:t>레이어 스윕 0.3·L ~ 0.8·L — 후보 6곳에 추론-time ablation을 걸고 분리한 검증셋(12개) 거부율로 best 선택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150" b="0">
                <a:solidFill>
                  <a:srgbClr val="1F2A44"/>
                </a:solidFill>
                <a:latin typeface="Pretendard"/>
                <a:ea typeface="Pretendard"/>
              </a:rPr>
              <a:t>3단계 측정 — BEFORE → 추론 ablation → 영구 weight 직교제거(o_proj·down_proj 72개 행렬)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150" b="0">
                <a:solidFill>
                  <a:srgbClr val="1F2A44"/>
                </a:solidFill>
                <a:latin typeface="Pretendard"/>
                <a:ea typeface="Pretendard"/>
              </a:rPr>
              <a:t>책임 설계 — 유해셋은 거부율만 집계하고 생성 텍스트는 저장하지 않으며, 수술된 가중치는 배포하지 않는다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150" b="0">
                <a:solidFill>
                  <a:srgbClr val="1F2A44"/>
                </a:solidFill>
                <a:latin typeface="Pretendard"/>
                <a:ea typeface="Pretendard"/>
              </a:rPr>
              <a:t>영문·국문 글로 발행 — 이 덱의 프로젝트 중 유일하게 외부에서 검증 가능하다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371600"/>
            <a:ext cx="4572000" cy="4434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57276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40AF"/>
                </a:solidFill>
                <a:latin typeface="Pretendard"/>
                <a:ea typeface="Pretendard"/>
              </a:rPr>
              <a:t>핵심 성과 · 실측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011680"/>
            <a:ext cx="40690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거부율 1.00 → 0.00 (추론 ablation) / 0.04 (영구 수술) — 재학습 없이 방향 하나 제거로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후보 레이어 6곳 중 3곳은 효과가 정확히 0 — 스윕을 안 하면 "안 뚫린다"는 위음성이 나온다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거부율 0% ≠ 지식 해금 — 이 모델은 수술 전에도 정당한 보안 질문에 전부 답했다(과잉거부 0.00)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조잡한 제거는 모델을 손상시킨다 — 17×23을 "39"로 답하고, 손상이 하필 공격·보안 주제에 집중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거부율만 보면 안 된다 — 전후 모두 0.00인데 실제 답변은 XSS·EternalBlue·CSRF에서 무너져 있었다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94360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B667A"/>
                </a:solidFill>
                <a:latin typeface="Pretendard"/>
                <a:ea typeface="Pretendard"/>
              </a:rPr>
              <a:t>STACK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00200" y="5888736"/>
            <a:ext cx="1908352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Qwen2.5-3B-Instruct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8280" y="5888736"/>
            <a:ext cx="887882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PyTorch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5890" y="5888736"/>
            <a:ext cx="1313078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transformers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8696" y="5888736"/>
            <a:ext cx="1057960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잔차 스트림 개입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06384" y="5888736"/>
            <a:ext cx="1313078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forward hook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29190" y="5888736"/>
            <a:ext cx="717803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직교 투영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56721" y="5888736"/>
            <a:ext cx="802843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골든셋 평가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Pretendard"/>
                <a:ea typeface="Pretendard"/>
              </a:rPr>
              <a:t>PROJECT 02 · 개인 (adorahelen/paper-notes)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Pretendard"/>
                <a:ea typeface="Pretendard"/>
              </a:rPr>
              <a:t>abliteration — 무엇을 측정했나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7A"/>
                </a:solidFill>
                <a:latin typeface="Pretendard"/>
                <a:ea typeface="Pretendard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6035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Pretendard"/>
                <a:ea typeface="Pretendard"/>
              </a:rPr>
              <a:t>레이어 스윕 — 거부가 매개되는 지점 찾기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9144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B667A"/>
                </a:solidFill>
                <a:latin typeface="Pretendard"/>
                <a:ea typeface="Pretendard"/>
              </a:rPr>
              <a:t>L10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Pretendard"/>
                <a:ea typeface="Pretendard"/>
              </a:rPr>
              <a:t>1.00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64208" y="1874519"/>
            <a:ext cx="9144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64208" y="1965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B667A"/>
                </a:solidFill>
                <a:latin typeface="Pretendard"/>
                <a:ea typeface="Pretendard"/>
              </a:rPr>
              <a:t>L14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2860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Pretendard"/>
                <a:ea typeface="Pretendard"/>
              </a:rPr>
              <a:t>1.00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88336" y="1874519"/>
            <a:ext cx="9144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88336" y="1965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B667A"/>
                </a:solidFill>
                <a:latin typeface="Pretendard"/>
                <a:ea typeface="Pretendard"/>
              </a:rPr>
              <a:t>L18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8336" y="22860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Pretendard"/>
                <a:ea typeface="Pretendard"/>
              </a:rPr>
              <a:t>1.00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12464" y="1874519"/>
            <a:ext cx="914400" cy="868680"/>
          </a:xfrm>
          <a:prstGeom prst="roundRect">
            <a:avLst>
              <a:gd name="adj" fmla="val 8000"/>
            </a:avLst>
          </a:prstGeom>
          <a:solidFill>
            <a:srgbClr val="EAF1FD"/>
          </a:solidFill>
          <a:ln w="1778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12464" y="1965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B667A"/>
                </a:solidFill>
                <a:latin typeface="Pretendard"/>
                <a:ea typeface="Pretendard"/>
              </a:rPr>
              <a:t>L21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12464" y="22860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E40AF"/>
                </a:solidFill>
                <a:latin typeface="Pretendard"/>
                <a:ea typeface="Pretendard"/>
              </a:rPr>
              <a:t>0.00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36592" y="1874519"/>
            <a:ext cx="9144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6592" y="1965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B667A"/>
                </a:solidFill>
                <a:latin typeface="Pretendard"/>
                <a:ea typeface="Pretendard"/>
              </a:rPr>
              <a:t>L25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6592" y="22860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Pretendard"/>
                <a:ea typeface="Pretendard"/>
              </a:rPr>
              <a:t>0.00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1874519"/>
            <a:ext cx="9144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965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B667A"/>
                </a:solidFill>
                <a:latin typeface="Pretendard"/>
                <a:ea typeface="Pretendard"/>
              </a:rPr>
              <a:t>L28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22860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Pretendard"/>
                <a:ea typeface="Pretendard"/>
              </a:rPr>
              <a:t>0.00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852928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B667A"/>
                </a:solidFill>
                <a:latin typeface="Pretendard"/>
                <a:ea typeface="Pretendard"/>
              </a:rPr>
              <a:t>앞·중간 레이어(10·14·18)에서는 효과가 정확히 0 — 튜닝을 안 해서 생긴 위음성이다</a:t>
            </a:r>
          </a:p>
          <a:p>
            <a:pPr algn="l"/>
            <a:r>
              <a:rPr sz="1050" b="1">
                <a:solidFill>
                  <a:srgbClr val="1E40AF"/>
                </a:solidFill>
                <a:latin typeface="Pretendard"/>
                <a:ea typeface="Pretendard"/>
              </a:rPr>
              <a:t>거부 방향은 네트워크 후반부(≈0.6 depth)에서 매개된다 → best = L21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1463040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Pretendard"/>
                <a:ea typeface="Pretendard"/>
              </a:rPr>
              <a:t>거부율 — 3단계 측정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1874519"/>
            <a:ext cx="4434840" cy="38404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0920" y="19476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B667A"/>
                </a:solidFill>
                <a:latin typeface="Pretendard"/>
                <a:ea typeface="Pretendard"/>
              </a:rPr>
              <a:t>단계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94767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B667A"/>
                </a:solidFill>
                <a:latin typeface="Pretendard"/>
                <a:ea typeface="Pretendard"/>
              </a:rPr>
              <a:t>유해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194767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B667A"/>
                </a:solidFill>
                <a:latin typeface="Pretendard"/>
                <a:ea typeface="Pretendard"/>
              </a:rPr>
              <a:t>과잉거부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228600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BEFORE (원본)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22860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E40AF"/>
                </a:solidFill>
                <a:latin typeface="Pretendard"/>
                <a:ea typeface="Pretendard"/>
              </a:rPr>
              <a:t>1.00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228600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5B667A"/>
                </a:solidFill>
                <a:latin typeface="Pretendard"/>
                <a:ea typeface="Pretendard"/>
              </a:rPr>
              <a:t>0.00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2706624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추론 ablation (L21)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2706624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E40AF"/>
                </a:solidFill>
                <a:latin typeface="Pretendard"/>
                <a:ea typeface="Pretendard"/>
              </a:rPr>
              <a:t>0.00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2706624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5B667A"/>
                </a:solidFill>
                <a:latin typeface="Pretendard"/>
                <a:ea typeface="Pretendard"/>
              </a:rPr>
              <a:t>0.00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3127248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영구 weight 수술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3127248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E40AF"/>
                </a:solidFill>
                <a:latin typeface="Pretendard"/>
                <a:ea typeface="Pretendard"/>
              </a:rPr>
              <a:t>0.04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3127248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5B667A"/>
                </a:solidFill>
                <a:latin typeface="Pretendard"/>
                <a:ea typeface="Pretendard"/>
              </a:rPr>
              <a:t>0.00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3611880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67A"/>
                </a:solidFill>
                <a:latin typeface="Pretendard"/>
                <a:ea typeface="Pretendard"/>
              </a:rPr>
              <a:t>과잉거부는 처음부터 끝까지 0.00 — 벗겨진 것은 행동 족쇄이지</a:t>
            </a:r>
          </a:p>
          <a:p>
            <a:pPr algn="l"/>
            <a:r>
              <a:rPr sz="1000" b="0">
                <a:solidFill>
                  <a:srgbClr val="5B667A"/>
                </a:solidFill>
                <a:latin typeface="Pretendard"/>
                <a:ea typeface="Pretendard"/>
              </a:rPr>
              <a:t>능력이 더해진 게 아니다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4114800"/>
            <a:ext cx="10972800" cy="1143000"/>
          </a:xfrm>
          <a:prstGeom prst="roundRect">
            <a:avLst>
              <a:gd name="adj" fmla="val 8000"/>
            </a:avLst>
          </a:prstGeom>
          <a:solidFill>
            <a:srgbClr val="EEF7F6"/>
          </a:solidFill>
          <a:ln w="1587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1F2A44"/>
                </a:solidFill>
                <a:latin typeface="Pretendard"/>
                <a:ea typeface="Pretendard"/>
              </a:rPr>
              <a:t>방어 산출물로의 전환 — 같은 벡터가 공격에도 방어에도 쓰인다</a:t>
            </a:r>
          </a:p>
          <a:p>
            <a:pPr algn="ctr"/>
            <a:r>
              <a:rPr sz="1050" b="0">
                <a:solidFill>
                  <a:srgbClr val="5B667A"/>
                </a:solidFill>
                <a:latin typeface="Pretendard"/>
                <a:ea typeface="Pretendard"/>
              </a:rPr>
              <a:t>제거 대상이던 거부 방향 r 을 추론 시 활성 모니터로 쓰면, 잔차 스트림을 r 에 투영한 값이 탈옥·우회 시도를 알아채는 실시간 탐지 신호가 된다.
결론은 "정렬은 뚫린다"가 아니라 — rank-1 편집으로 지워지는 것을 보안 경계로 삼으면 안 되고, 통제는 지워질 수 없는 곳(API·검색 계층·출력 필터)에 두어야 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4406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B667A"/>
                </a:solidFill>
                <a:latin typeface="Pretendard"/>
                <a:ea typeface="Pretendard"/>
              </a:rPr>
              <a:t>Arditi, A. et al. (2024). Refusal in Language Models Is Mediated by a Single Direction. arXiv:2406.11717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Pretendard"/>
                <a:ea typeface="Pretendard"/>
              </a:rPr>
              <a:t>PROJECT 03 · 개인 (adorahelen/edr-lab)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Pretendard"/>
                <a:ea typeface="Pretendard"/>
              </a:rPr>
              <a:t>edr-lab — 커널 없이 어디까지 관측되는가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7A"/>
                </a:solidFill>
                <a:latin typeface="Pretendard"/>
                <a:ea typeface="Pretendard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E40AF"/>
                </a:solidFill>
                <a:latin typeface="Pretendard"/>
                <a:ea typeface="Pretendard"/>
              </a:rPr>
              <a:t>상용 EDR이 커널 드라이버로 하는 일을 User-mode(Ring 3)에서 재현하고, 안 되는 것은 안 되는 이유까지 남긴다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594360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150" b="0">
                <a:solidFill>
                  <a:srgbClr val="1F2A44"/>
                </a:solidFill>
                <a:latin typeface="Pretendard"/>
                <a:ea typeface="Pretendard"/>
              </a:rPr>
              <a:t>센서를 C++ 2,840줄로 구현 — 프로세스(WMI Trace)·파일(ReadDirectoryChangesW)·네트워크(GetExtendedTcpTable)·레지스트리(RegNotifyChangeKeyValue) 관측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150" b="0">
                <a:solidFill>
                  <a:srgbClr val="1F2A44"/>
                </a:solidFill>
                <a:latin typeface="Pretendard"/>
                <a:ea typeface="Pretendard"/>
              </a:rPr>
              <a:t>커널 콜백마다 Ring 3 우회로를 대응시키고 그 대가를 표로 명시 — 파일 변경은 유발 PID를 알 수 없고, 네트워크는 3초 폴링 사이 단명 연결을 놓친다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150" b="0">
                <a:solidFill>
                  <a:srgbClr val="1F2A44"/>
                </a:solidFill>
                <a:latin typeface="Pretendard"/>
                <a:ea typeface="Pretendard"/>
              </a:rPr>
              <a:t>규칙 엔진(*.rule) 14종 + 부모-자식 프로세스 상관까지 동작 → DETECTION 알림. 다중 이벤트 시간 윈도우 상관은 미구현으로 명시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150" b="0">
                <a:solidFill>
                  <a:srgbClr val="1F2A44"/>
                </a:solidFill>
                <a:latin typeface="Pretendard"/>
                <a:ea typeface="Pretendard"/>
              </a:rPr>
              <a:t>포렌식 수집 모드 별도 — $MFT · 레지스트리 하이브 · .evtx · Prefetch를 매니페스트와 해시로 수집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150" b="0">
                <a:solidFill>
                  <a:srgbClr val="1F2A44"/>
                </a:solidFill>
                <a:latin typeface="Pretendard"/>
                <a:ea typeface="Pretendard"/>
              </a:rPr>
              <a:t>Sysmon 14개 이벤트 기준으로 커버리지를 자체 채점 — 6종 미커버(DLL 로드·인젝션·lsass 접근·DNS·드라이버·WMI 구독)를 사각으로 공개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371600"/>
            <a:ext cx="4572000" cy="4434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57276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40AF"/>
                </a:solidFill>
                <a:latin typeface="Pretendard"/>
                <a:ea typeface="Pretendard"/>
              </a:rPr>
              <a:t>핵심 성과 · 실측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011680"/>
            <a:ext cx="40690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이벤트 → SQLite(WAL) 적재 → Electron 콘솔이 1초 증분 폴링, Windows 실기기 종단 확인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런타임 의존성 없는 정적 링크 · MSVC / MinGW-w64 양쪽 툴체인 빌드 검증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저장소 C/C++ 총량은 298,925줄이지만 본인 코드는 2,840줄 — 나머지는 벤더(SQLite·httplib) 정적 동봉. 면접에서 절대 부풀리지 않는다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두 저장소(센서·콘솔)를 커밋 히스토리 보존한 채 통합 — "센서는 있는데 볼 방법이 없던 상태"를 잇는 것이 목적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이름이 실물을 앞서지 않도록 README에 "아직 EDR이 아니다"를 E·D·R 글자별로 자기 채점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94360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B667A"/>
                </a:solidFill>
                <a:latin typeface="Pretendard"/>
                <a:ea typeface="Pretendard"/>
              </a:rPr>
              <a:t>STACK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00200" y="5888736"/>
            <a:ext cx="717803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C++17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7731" y="5888736"/>
            <a:ext cx="1057960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Win32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95419" y="5888736"/>
            <a:ext cx="547725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WMI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2872" y="5888736"/>
            <a:ext cx="1313078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SQLite (WAL)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75678" y="5888736"/>
            <a:ext cx="1228039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Electron 39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13445" y="5888736"/>
            <a:ext cx="1483156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TypeScript 5.9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06329" y="5888736"/>
            <a:ext cx="717803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CMake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33860" y="5888736"/>
            <a:ext cx="1653235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MSVC · MinGW-w64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Pretendard"/>
                <a:ea typeface="Pretendard"/>
              </a:rPr>
              <a:t>PROJECT 03 · 개인 (adorahelen/edr-lab)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Pretendard"/>
                <a:ea typeface="Pretendard"/>
              </a:rPr>
              <a:t>edr-lab —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7A"/>
                </a:solidFill>
                <a:latin typeface="Pretendard"/>
                <a:ea typeface="Pretendard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5120640" cy="265176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2763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B91C1C"/>
                </a:solidFill>
                <a:latin typeface="Pretendard"/>
                <a:ea typeface="Pretendard"/>
              </a:rPr>
              <a:t>Ring 0 — 일부러 넘지 않은 선 (드라이버 서명·커널 디버깅의 세계)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11680"/>
            <a:ext cx="15087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50" b="1">
                <a:solidFill>
                  <a:srgbClr val="1F2A44"/>
                </a:solidFill>
                <a:latin typeface="Pretendard"/>
                <a:ea typeface="Pretendard"/>
              </a:rPr>
              <a:t>MiniFilter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파일 I/O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2011680"/>
            <a:ext cx="15087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50" b="1">
                <a:solidFill>
                  <a:srgbClr val="1F2A44"/>
                </a:solidFill>
                <a:latin typeface="Pretendard"/>
                <a:ea typeface="Pretendard"/>
              </a:rPr>
              <a:t>PsNotify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프로세스 콜백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01168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50" b="1">
                <a:solidFill>
                  <a:srgbClr val="1F2A44"/>
                </a:solidFill>
                <a:latin typeface="Pretendard"/>
                <a:ea typeface="Pretendard"/>
              </a:rPr>
              <a:t>WFP / NDIS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패킷 계층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200400"/>
            <a:ext cx="150876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>
                <a:solidFill>
                  <a:srgbClr val="1F2A44"/>
                </a:solidFill>
                <a:latin typeface="Pretendard"/>
                <a:ea typeface="Pretendard"/>
              </a:rPr>
              <a:t>ReadDirectory
ChangesW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유발 PID 없음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3200400"/>
            <a:ext cx="150876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50" b="1">
                <a:solidFill>
                  <a:srgbClr val="1F2A44"/>
                </a:solidFill>
                <a:latin typeface="Pretendard"/>
                <a:ea typeface="Pretendard"/>
              </a:rPr>
              <a:t>WMI Trace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지연 · 차단 불가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3200400"/>
            <a:ext cx="14630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>
                <a:solidFill>
                  <a:srgbClr val="1F2A44"/>
                </a:solidFill>
                <a:latin typeface="Pretendard"/>
                <a:ea typeface="Pretendard"/>
              </a:rPr>
              <a:t>GetExtended
TcpTable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3초 폴링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23060" y="2697480"/>
            <a:ext cx="0" cy="502920"/>
          </a:xfrm>
          <a:prstGeom prst="line">
            <a:avLst/>
          </a:prstGeom>
          <a:ln w="19050">
            <a:solidFill>
              <a:srgbClr val="5B667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268980" y="2697480"/>
            <a:ext cx="0" cy="502920"/>
          </a:xfrm>
          <a:prstGeom prst="line">
            <a:avLst/>
          </a:prstGeom>
          <a:ln w="19050">
            <a:solidFill>
              <a:srgbClr val="5B667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892040" y="2697480"/>
            <a:ext cx="0" cy="502920"/>
          </a:xfrm>
          <a:prstGeom prst="line">
            <a:avLst/>
          </a:prstGeom>
          <a:ln w="19050">
            <a:solidFill>
              <a:srgbClr val="5B667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68680" y="3977639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7C7B"/>
                </a:solidFill>
                <a:latin typeface="Pretendard"/>
                <a:ea typeface="Pretendard"/>
              </a:rPr>
              <a:t>Ring 3 — 이 프로젝트가 쓰는 우회로 (각각 값을 치른다)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737360"/>
            <a:ext cx="22860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F2A44"/>
                </a:solidFill>
                <a:latin typeface="Pretendard"/>
                <a:ea typeface="Pretendard"/>
              </a:rPr>
              <a:t>SQLite (WAL)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이벤트 적재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926080"/>
            <a:ext cx="2286000" cy="822960"/>
          </a:xfrm>
          <a:prstGeom prst="roundRect">
            <a:avLst>
              <a:gd name="adj" fmla="val 8000"/>
            </a:avLst>
          </a:prstGeom>
          <a:solidFill>
            <a:srgbClr val="EAF1FD"/>
          </a:solidFill>
          <a:ln w="15875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F2A44"/>
                </a:solidFill>
                <a:latin typeface="Pretendard"/>
                <a:ea typeface="Pretendard"/>
              </a:rPr>
              <a:t>규칙 엔진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*.rule 14종 · 부모-자식 상관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114800"/>
            <a:ext cx="22860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F2A44"/>
                </a:solidFill>
                <a:latin typeface="Pretendard"/>
                <a:ea typeface="Pretendard"/>
              </a:rPr>
              <a:t>로컬 REST API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1초 증분 조회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2926080"/>
            <a:ext cx="2286000" cy="822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F2A44"/>
                </a:solidFill>
                <a:latin typeface="Pretendard"/>
                <a:ea typeface="Pretendard"/>
              </a:rPr>
              <a:t>Electron 콘솔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모니터링 / 포렌식 2탭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1737360"/>
            <a:ext cx="22860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F2A44"/>
                </a:solidFill>
                <a:latin typeface="Pretendard"/>
                <a:ea typeface="Pretendard"/>
              </a:rPr>
              <a:t>collect 모드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$MFT · 하이브 · evtx · Prefetch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543800" y="2560320"/>
            <a:ext cx="0" cy="365760"/>
          </a:xfrm>
          <a:prstGeom prst="line">
            <a:avLst/>
          </a:prstGeom>
          <a:ln w="19050">
            <a:solidFill>
              <a:srgbClr val="5B66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543800" y="3749040"/>
            <a:ext cx="0" cy="365760"/>
          </a:xfrm>
          <a:prstGeom prst="line">
            <a:avLst/>
          </a:prstGeom>
          <a:ln w="19050">
            <a:solidFill>
              <a:srgbClr val="5B66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686800" y="3337560"/>
            <a:ext cx="640080" cy="0"/>
          </a:xfrm>
          <a:prstGeom prst="line">
            <a:avLst/>
          </a:prstGeom>
          <a:ln w="19050">
            <a:solidFill>
              <a:srgbClr val="5B66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469880" y="2560320"/>
            <a:ext cx="0" cy="365760"/>
          </a:xfrm>
          <a:prstGeom prst="line">
            <a:avLst/>
          </a:prstGeom>
          <a:ln w="19050">
            <a:solidFill>
              <a:srgbClr val="5B66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760720" y="2148840"/>
            <a:ext cx="640080" cy="640080"/>
          </a:xfrm>
          <a:prstGeom prst="line">
            <a:avLst/>
          </a:prstGeom>
          <a:ln w="19050">
            <a:solidFill>
              <a:srgbClr val="5B66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0" y="5212080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2A44"/>
                </a:solidFill>
                <a:latin typeface="Pretendard"/>
                <a:ea typeface="Pretendard"/>
              </a:rPr>
              <a:t>Sysmon 14개 이벤트 기준 자체 채점 — 5 커버 · 3 부분 · 6 미커버</a:t>
            </a:r>
          </a:p>
          <a:p>
            <a:pPr algn="l"/>
            <a:r>
              <a:rPr sz="1000" b="0">
                <a:solidFill>
                  <a:srgbClr val="5B667A"/>
                </a:solidFill>
                <a:latin typeface="Pretendard"/>
                <a:ea typeface="Pretendard"/>
              </a:rPr>
              <a:t>남은 사각의 핵심: ID 7 모듈 로드 · ID 8 인젝션 · ID 10 lsass 접근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Pretendard"/>
                <a:ea typeface="Pretendard"/>
              </a:rPr>
              <a:t>PROJECT 04 · 개인 (adorahelen/security-labs)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Pretendard"/>
                <a:ea typeface="Pretendard"/>
              </a:rPr>
              <a:t>security-labs — 디지털 포렌식 · 암호 구현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7A"/>
                </a:solidFill>
                <a:latin typeface="Pretendard"/>
                <a:ea typeface="Pretendard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E40AF"/>
                </a:solidFill>
                <a:latin typeface="Pretendard"/>
                <a:ea typeface="Pretendard"/>
              </a:rPr>
              <a:t>학회 발표 논문의 기반이 된 앱 포렌식 실습과, 표준 테스트 벡터로 검증한 암호 구현을 한 저장소로 합쳤다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594360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150" b="0">
                <a:solidFill>
                  <a:srgbClr val="1F2A44"/>
                </a:solidFill>
                <a:latin typeface="Pretendard"/>
                <a:ea typeface="Pretendard"/>
              </a:rPr>
              <a:t>Threads 앱 포렌식 — 루팅 Android 13 기기에서 adb+tar로 추출, 4단계 파이프라인(행위 모방 → 추출 → 디렉터리 분석 → 아티팩트 수집)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150" b="0">
                <a:solidFill>
                  <a:srgbClr val="1F2A44"/>
                </a:solidFill>
                <a:latin typeface="Pretendard"/>
                <a:ea typeface="Pretendard"/>
              </a:rPr>
              <a:t>핵심 발견 — mdcore_messages의 data BLOB에 DM 본문이 평문 저장. 방·시각·발신자·본문이 모두 복원된다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150" b="0">
                <a:solidFill>
                  <a:srgbClr val="1F2A44"/>
                </a:solidFill>
                <a:latin typeface="Pretendard"/>
                <a:ea typeface="Pretendard"/>
              </a:rPr>
              <a:t>WAL(dmm_database-wal)을 빼면 최신 메시지를 놓친다 — 본 DB만 보는 절차의 공백을 지적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150" b="0">
                <a:solidFill>
                  <a:srgbClr val="1F2A44"/>
                </a:solidFill>
                <a:latin typeface="Pretendard"/>
                <a:ea typeface="Pretendard"/>
              </a:rPr>
              <a:t>선행연구 3편이 "모바일 분석은 수확이 적다"고 평가한 지점을, 최신 버전에서 평문 복원까지 해내 뒤집었다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150" b="0">
                <a:solidFill>
                  <a:srgbClr val="1F2A44"/>
                </a:solidFill>
                <a:latin typeface="Pretendard"/>
                <a:ea typeface="Pretendard"/>
              </a:rPr>
              <a:t>같은 저장소에 Windows 브라우저 포렌식(VMware 이미징 + Sleuthkit inode 추적)과 AES-128 C 직접 구현을 함께 둔다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371600"/>
            <a:ext cx="4572000" cy="4434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57276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40AF"/>
                </a:solidFill>
                <a:latin typeface="Pretendard"/>
                <a:ea typeface="Pretendard"/>
              </a:rPr>
              <a:t>핵심 성과 · 실측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011680"/>
            <a:ext cx="40690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한국정보보호학회 동계학술대회(CISC-W'25) 제1저자 · 논문번호 328 · 구두발표 세션 「디지털 포렌식 I」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KISTI 한국과학기술정보연구원 원장상 수상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복원되는 사용자 행위 — 열람 게시글과 시점, DM 본문·발신자·시각, 미전송 대기 이미지, 인앱 검색어와 검색 시각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AES-128 ECB를 라운드 함수부터 구현 후 OpenSSL 대조, NIST CAVP KAT 벡터 자동 검증기까지 작성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한계를 명시 — Android 한정 · 정적 추출 중심. iOS 확장과 동적/네트워크 포렌식을 과제로 남김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94360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B667A"/>
                </a:solidFill>
                <a:latin typeface="Pretendard"/>
                <a:ea typeface="Pretendard"/>
              </a:rPr>
              <a:t>STACK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00200" y="5888736"/>
            <a:ext cx="377647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87575" y="5888736"/>
            <a:ext cx="547725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adb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5028" y="5888736"/>
            <a:ext cx="802843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SQLite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599" y="5888736"/>
            <a:ext cx="1057960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Sleuthkit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25287" y="5888736"/>
            <a:ext cx="802843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EnCase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37858" y="5888736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DB Browser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90586" y="5888736"/>
            <a:ext cx="802843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VMware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3157" y="5888736"/>
            <a:ext cx="887882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OpenSSL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0767" y="5888736"/>
            <a:ext cx="1057960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NIST CAVP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Pretendard"/>
                <a:ea typeface="Pretendard"/>
              </a:rPr>
              <a:t>PROJECT 04 · 개인 (adorahelen/security-labs)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Pretendard"/>
                <a:ea typeface="Pretendard"/>
              </a:rPr>
              <a:t>Threads 앱 포렌식 —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7A"/>
                </a:solidFill>
                <a:latin typeface="Pretendard"/>
                <a:ea typeface="Pretendard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72768"/>
            <a:ext cx="25146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F2A44"/>
                </a:solidFill>
                <a:latin typeface="Pretendard"/>
                <a:ea typeface="Pretendard"/>
              </a:rPr>
              <a:t>① 사용자 행위 모방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게시물 · 팔로우 · DM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1572768"/>
            <a:ext cx="25146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F2A44"/>
                </a:solidFill>
                <a:latin typeface="Pretendard"/>
                <a:ea typeface="Pretendard"/>
              </a:rPr>
              <a:t>② 데이터 추출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adb shell + tar → pull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4680" y="1961388"/>
            <a:ext cx="365759" cy="0"/>
          </a:xfrm>
          <a:prstGeom prst="line">
            <a:avLst/>
          </a:prstGeom>
          <a:ln w="19050">
            <a:solidFill>
              <a:srgbClr val="5B66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0" y="1572768"/>
            <a:ext cx="25146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F2A44"/>
                </a:solidFill>
                <a:latin typeface="Pretendard"/>
                <a:ea typeface="Pretendard"/>
              </a:rPr>
              <a:t>③ 디렉터리 분석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/data/data/&lt;pkg&gt; 구조화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35039" y="1961388"/>
            <a:ext cx="365761" cy="0"/>
          </a:xfrm>
          <a:prstGeom prst="line">
            <a:avLst/>
          </a:prstGeom>
          <a:ln w="19050">
            <a:solidFill>
              <a:srgbClr val="5B66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281159" y="1572768"/>
            <a:ext cx="2514600" cy="777240"/>
          </a:xfrm>
          <a:prstGeom prst="roundRect">
            <a:avLst>
              <a:gd name="adj" fmla="val 8000"/>
            </a:avLst>
          </a:prstGeom>
          <a:solidFill>
            <a:srgbClr val="EAF1FD"/>
          </a:solidFill>
          <a:ln w="15875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F2A44"/>
                </a:solidFill>
                <a:latin typeface="Pretendard"/>
                <a:ea typeface="Pretendard"/>
              </a:rPr>
              <a:t>④ 아티팩트 수집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DB · 파일 · 설정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915400" y="1961388"/>
            <a:ext cx="365759" cy="0"/>
          </a:xfrm>
          <a:prstGeom prst="line">
            <a:avLst/>
          </a:prstGeom>
          <a:ln w="19050">
            <a:solidFill>
              <a:srgbClr val="5B66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0080" y="2880360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DF6E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26664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B667A"/>
                </a:solidFill>
                <a:latin typeface="Pretendard"/>
                <a:ea typeface="Pretendard"/>
              </a:rPr>
              <a:t>databases/</a:t>
            </a:r>
          </a:p>
          <a:p>
            <a:pPr algn="l"/>
            <a:r>
              <a:rPr sz="1200" b="1">
                <a:solidFill>
                  <a:srgbClr val="1F2A44"/>
                </a:solidFill>
                <a:latin typeface="Pretendard"/>
                <a:ea typeface="Pretendard"/>
              </a:rPr>
              <a:t>mdcore_messages</a:t>
            </a:r>
          </a:p>
          <a:p>
            <a:pPr algn="l"/>
            <a:r>
              <a:rPr sz="1000" b="0">
                <a:solidFill>
                  <a:srgbClr val="1F2A44"/>
                </a:solidFill>
                <a:latin typeface="Pretendard"/>
                <a:ea typeface="Pretendard"/>
              </a:rPr>
              <a:t>DM 본문 평문 · thread_id · timestamp · 발신자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3984" y="2880360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3026664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B667A"/>
                </a:solidFill>
                <a:latin typeface="Pretendard"/>
                <a:ea typeface="Pretendard"/>
              </a:rPr>
              <a:t>databases/</a:t>
            </a:r>
          </a:p>
          <a:p>
            <a:pPr algn="l"/>
            <a:r>
              <a:rPr sz="1200" b="1">
                <a:solidFill>
                  <a:srgbClr val="1F2A44"/>
                </a:solidFill>
                <a:latin typeface="Pretendard"/>
                <a:ea typeface="Pretendard"/>
              </a:rPr>
              <a:t>contact_database</a:t>
            </a:r>
          </a:p>
          <a:p>
            <a:pPr algn="l"/>
            <a:r>
              <a:rPr sz="1000" b="0">
                <a:solidFill>
                  <a:srgbClr val="1F2A44"/>
                </a:solidFill>
                <a:latin typeface="Pretendard"/>
                <a:ea typeface="Pretendard"/>
              </a:rPr>
              <a:t>팔로잉 관계 · 내부 ID ↔ 계정 매핑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47888" y="2880360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6" y="3026664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B667A"/>
                </a:solidFill>
                <a:latin typeface="Pretendard"/>
                <a:ea typeface="Pretendard"/>
              </a:rPr>
              <a:t>databases/</a:t>
            </a:r>
          </a:p>
          <a:p>
            <a:pPr algn="l"/>
            <a:r>
              <a:rPr sz="1200" b="1">
                <a:solidFill>
                  <a:srgbClr val="1F2A44"/>
                </a:solidFill>
                <a:latin typeface="Pretendard"/>
                <a:ea typeface="Pretendard"/>
              </a:rPr>
              <a:t>barcelona_feed_items</a:t>
            </a:r>
          </a:p>
          <a:p>
            <a:pPr algn="l"/>
            <a:r>
              <a:rPr sz="1000" b="0">
                <a:solidFill>
                  <a:srgbClr val="1F2A44"/>
                </a:solidFill>
                <a:latin typeface="Pretendard"/>
                <a:ea typeface="Pretendard"/>
              </a:rPr>
              <a:t>열람한 게시글과 열람 시점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97680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DF6E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4443984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B667A"/>
                </a:solidFill>
                <a:latin typeface="Pretendard"/>
                <a:ea typeface="Pretendard"/>
              </a:rPr>
              <a:t>databases/</a:t>
            </a:r>
          </a:p>
          <a:p>
            <a:pPr algn="l"/>
            <a:r>
              <a:rPr sz="1200" b="1">
                <a:solidFill>
                  <a:srgbClr val="1F2A44"/>
                </a:solidFill>
                <a:latin typeface="Pretendard"/>
                <a:ea typeface="Pretendard"/>
              </a:rPr>
              <a:t>dmm_database-wal</a:t>
            </a:r>
          </a:p>
          <a:p>
            <a:pPr algn="l"/>
            <a:r>
              <a:rPr sz="1000" b="0">
                <a:solidFill>
                  <a:srgbClr val="1F2A44"/>
                </a:solidFill>
                <a:latin typeface="Pretendard"/>
                <a:ea typeface="Pretendard"/>
              </a:rPr>
              <a:t>본 DB 미반영 최신 메시지 · 전송 이미지 경로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4" y="4297680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5152" y="4443984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B667A"/>
                </a:solidFill>
                <a:latin typeface="Pretendard"/>
                <a:ea typeface="Pretendard"/>
              </a:rPr>
              <a:t>files/ · cache/</a:t>
            </a:r>
          </a:p>
          <a:p>
            <a:pPr algn="l"/>
            <a:r>
              <a:rPr sz="1200" b="1">
                <a:solidFill>
                  <a:srgbClr val="1F2A44"/>
                </a:solidFill>
                <a:latin typeface="Pretendard"/>
                <a:ea typeface="Pretendard"/>
              </a:rPr>
              <a:t>creation_file_manager · tmp_photo</a:t>
            </a:r>
          </a:p>
          <a:p>
            <a:pPr algn="l"/>
            <a:r>
              <a:rPr sz="1000" b="0">
                <a:solidFill>
                  <a:srgbClr val="1F2A44"/>
                </a:solidFill>
                <a:latin typeface="Pretendard"/>
                <a:ea typeface="Pretendard"/>
              </a:rPr>
              <a:t>전송 이미지 · 미전송 대기 이미지 (파일명에 시각)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47888" y="4297680"/>
            <a:ext cx="36118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9056" y="4443984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B667A"/>
                </a:solidFill>
                <a:latin typeface="Pretendard"/>
                <a:ea typeface="Pretendard"/>
              </a:rPr>
              <a:t>shared_prefs/</a:t>
            </a:r>
          </a:p>
          <a:p>
            <a:pPr algn="l"/>
            <a:r>
              <a:rPr sz="1200" b="1">
                <a:solidFill>
                  <a:srgbClr val="1F2A44"/>
                </a:solidFill>
                <a:latin typeface="Pretendard"/>
                <a:ea typeface="Pretendard"/>
              </a:rPr>
              <a:t>USER_PREFERENCES.xml</a:t>
            </a:r>
          </a:p>
          <a:p>
            <a:pPr algn="l"/>
            <a:r>
              <a:rPr sz="1000" b="0">
                <a:solidFill>
                  <a:srgbClr val="1F2A44"/>
                </a:solidFill>
                <a:latin typeface="Pretendard"/>
                <a:ea typeface="Pretendard"/>
              </a:rPr>
              <a:t>인앱 검색어 전체 + 검색 시각 · 종료 직전 화면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704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B45309"/>
                </a:solidFill>
                <a:latin typeface="Pretendard"/>
                <a:ea typeface="Pretendard"/>
              </a:rPr>
              <a:t>노란 칸이 이 연구의 핵심 — 상용 도구가 보지 않는 WAL과, 암호화됐을 것으로 여겨지던 DM 본문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Pretendard"/>
                <a:ea typeface="Pretendard"/>
              </a:rPr>
              <a:t>PROJECT 05 · 개인 (adorahelen/agent-console)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Pretendard"/>
                <a:ea typeface="Pretendard"/>
              </a:rPr>
              <a:t>agent-console — 카트리지형 온프레미스 AI 에이전트 콘솔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7A"/>
                </a:solidFill>
                <a:latin typeface="Pretendard"/>
                <a:ea typeface="Pretendard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E40AF"/>
                </a:solidFill>
                <a:latin typeface="Pretendard"/>
                <a:ea typeface="Pretendard"/>
              </a:rPr>
              <a:t>엔진(RAG·intent·멀티백엔드 서빙)은 고정하고, 도메인·지식·모델 세 슬롯만 카트리지로 갈아 끼운다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594360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150" b="0">
                <a:solidFill>
                  <a:srgbClr val="1F2A44"/>
                </a:solidFill>
                <a:latin typeface="Pretendard"/>
                <a:ea typeface="Pretendard"/>
              </a:rPr>
              <a:t>도메인에 종속된 에이전트 구조에서 도메인만 걷어내 범용 엔진으로 재설계 — 걷어낸 도메인은 첫 카트리지로 보존해 "도메인 전체가 카트리지 하나"임을 실증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150" b="0">
                <a:solidFill>
                  <a:srgbClr val="1F2A44"/>
                </a:solidFill>
                <a:latin typeface="Pretendard"/>
                <a:ea typeface="Pretendard"/>
              </a:rPr>
              <a:t>3슬롯 설계 — 프롬프트(config 경로 18개 외부화) · 지식(bulk upload → 임베딩 → Qdrant) · 모델(config 한 줄). 슬롯 교체에 코드 수정이 없다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150" b="0">
                <a:solidFill>
                  <a:srgbClr val="1F2A44"/>
                </a:solidFill>
                <a:latin typeface="Pretendard"/>
                <a:ea typeface="Pretendard"/>
              </a:rPr>
              <a:t>install.sh가 VRAM·RAM을 감지해 HW 티어를 판정하고 프리셋을 자동 선택 — 16GB 장비는 26B + n-cpu-moe 오프로딩으로 확정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150" b="0">
                <a:solidFill>
                  <a:srgbClr val="1F2A44"/>
                </a:solidFill>
                <a:latin typeface="Pretendard"/>
                <a:ea typeface="Pretendard"/>
              </a:rPr>
              <a:t>카트리지 CLI 완비(validate·mount·unmount·list·status·purge) · 검증 완료 3종 — 보안관제 · 개발도우미 · 개인정보/ISMS-P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150" b="0">
                <a:solidFill>
                  <a:srgbClr val="1F2A44"/>
                </a:solidFill>
                <a:latin typeface="Pretendard"/>
                <a:ea typeface="Pretendard"/>
              </a:rPr>
              <a:t>지식의 출처를 파일 단위로 역추적 — 보안관제 3,955건 = 공개 코퍼스 1,575 + 자체 1,930 + LLM 301. 라이선스 실사까지 문서화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371600"/>
            <a:ext cx="4572000" cy="4434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57276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40AF"/>
                </a:solidFill>
                <a:latin typeface="Pretendard"/>
                <a:ea typeface="Pretendard"/>
              </a:rPr>
              <a:t>핵심 성과 · 실측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011680"/>
            <a:ext cx="40690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Python 70,424줄 · 테스트 파일 55개 — 두 계정 전체 저장소 중 최대·최다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보안 미결 항목을 스스로 공개 — PII 마스킹이 특정 핸들러만 경유해 API 티어에선 원문이 나간다는 점을 기록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RAG는 BGE-M3 dense + ColBERT 2-way RRF 리랭킹. 전략을 바꿔가며 비교한 실험 흔적이 파일로 남아 있다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멀티백엔드 서빙 — 로컬 llama-server와 외부 API를 같은 인터페이스로, OpenAI 호환 엔드포인트 제공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install 원클릭 → systemd 등록까지 종단 자동화, T1·T2 티어 실측 검증 완료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94360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B667A"/>
                </a:solidFill>
                <a:latin typeface="Pretendard"/>
                <a:ea typeface="Pretendard"/>
              </a:rPr>
              <a:t>STACK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00200" y="5888736"/>
            <a:ext cx="1313078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Python 3.11+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23006" y="5888736"/>
            <a:ext cx="887882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FastAPI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0616" y="5888736"/>
            <a:ext cx="1057960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llama.cpp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88304" y="5888736"/>
            <a:ext cx="802843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Qdrant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00875" y="5888736"/>
            <a:ext cx="802843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BGE-M3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13446" y="5888736"/>
            <a:ext cx="887882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RRF 리랭킹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1056" y="5888736"/>
            <a:ext cx="887882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systemd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8666" y="5888736"/>
            <a:ext cx="1398117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OpenAI 호환 API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Pretendard"/>
                <a:ea typeface="Pretendard"/>
              </a:rPr>
              <a:t>PROJECT 05 · 개인 (adorahelen/agent-console)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Pretendard"/>
                <a:ea typeface="Pretendard"/>
              </a:rPr>
              <a:t>agent-console —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7A"/>
                </a:solidFill>
                <a:latin typeface="Pretendard"/>
                <a:ea typeface="Pretendard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931920" cy="3200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B45309"/>
                </a:solidFill>
                <a:latin typeface="Pretendard"/>
                <a:ea typeface="Pretendard"/>
              </a:rPr>
              <a:t>카트리지 (가변) — 코드 수정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103120"/>
            <a:ext cx="34747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F2A44"/>
                </a:solidFill>
                <a:latin typeface="Pretendard"/>
                <a:ea typeface="Pretendard"/>
              </a:rPr>
              <a:t>슬롯 1 · 프롬프트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intent 분류 + 생성 규칙 / config 경로 18개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971800"/>
            <a:ext cx="34747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F2A44"/>
                </a:solidFill>
                <a:latin typeface="Pretendard"/>
                <a:ea typeface="Pretendard"/>
              </a:rPr>
              <a:t>슬롯 2 · 지식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RAG 문서(YAML) / bulk upload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840480"/>
            <a:ext cx="34747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F2A44"/>
                </a:solidFill>
                <a:latin typeface="Pretendard"/>
                <a:ea typeface="Pretendard"/>
              </a:rPr>
              <a:t>슬롯 3 · 모델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HW 티어 프리셋 / models.yaml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508760"/>
            <a:ext cx="5577840" cy="3200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587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6916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7C7B"/>
                </a:solidFill>
                <a:latin typeface="Pretendard"/>
                <a:ea typeface="Pretendard"/>
              </a:rPr>
              <a:t>엔진 (고정) — 도메인을 모른다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103120"/>
            <a:ext cx="51206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F2A44"/>
                </a:solidFill>
                <a:latin typeface="Pretendard"/>
                <a:ea typeface="Pretendard"/>
              </a:rPr>
              <a:t>FastAPI · 인증 · PII 마스킹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관리 평면 인증 · 요청 파이프라인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971800"/>
            <a:ext cx="51206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F2A44"/>
                </a:solidFill>
                <a:latin typeface="Pretendard"/>
                <a:ea typeface="Pretendard"/>
              </a:rPr>
              <a:t>RAG — BGE-M3 + Qdrant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dense + ColBERT 2-way RRF 리랭킹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840480"/>
            <a:ext cx="51206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F2A44"/>
                </a:solidFill>
                <a:latin typeface="Pretendard"/>
                <a:ea typeface="Pretendard"/>
              </a:rPr>
              <a:t>멀티백엔드 서빙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llama-server (로컬) / 외부 API · OpenAI 호환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343400" y="2468880"/>
            <a:ext cx="1920240" cy="0"/>
          </a:xfrm>
          <a:prstGeom prst="line">
            <a:avLst/>
          </a:prstGeom>
          <a:ln w="19050">
            <a:solidFill>
              <a:srgbClr val="5B66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34840" y="212140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67A"/>
                </a:solidFill>
                <a:latin typeface="Pretendard"/>
                <a:ea typeface="Pretendard"/>
              </a:rPr>
              <a:t>config [prompts]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343400" y="3337560"/>
            <a:ext cx="1920240" cy="0"/>
          </a:xfrm>
          <a:prstGeom prst="line">
            <a:avLst/>
          </a:prstGeom>
          <a:ln w="19050">
            <a:solidFill>
              <a:srgbClr val="5B66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434840" y="299008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67A"/>
                </a:solidFill>
                <a:latin typeface="Pretendard"/>
                <a:ea typeface="Pretendard"/>
              </a:rPr>
              <a:t>bulk upload API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43400" y="4206240"/>
            <a:ext cx="1920240" cy="0"/>
          </a:xfrm>
          <a:prstGeom prst="line">
            <a:avLst/>
          </a:prstGeom>
          <a:ln w="19050">
            <a:solidFill>
              <a:srgbClr val="5B66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434840" y="385876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67A"/>
                </a:solidFill>
                <a:latin typeface="Pretendard"/>
                <a:ea typeface="Pretendard"/>
              </a:rPr>
              <a:t>config [model]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074920"/>
            <a:ext cx="507492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F2A44"/>
                </a:solidFill>
                <a:latin typeface="Pretendard"/>
                <a:ea typeface="Pretendard"/>
              </a:rPr>
              <a:t>install.sh — HW 감지 → 티어 판정 → 프리셋 자동 선택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VRAM·RAM 계측 후 16GB는 26B + n-cpu-moe 오프로딩, systemd 등록까지 원클릭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5074920"/>
            <a:ext cx="557784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F2A44"/>
                </a:solidFill>
                <a:latin typeface="Pretendard"/>
                <a:ea typeface="Pretendard"/>
              </a:rPr>
              <a:t>카트리지 CLI — validate / mount / unmount / list / status / purge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검증 완료 3종: 보안관제(action형) · 개발도우미(Q&amp;A형) · 개인정보·ISMS-P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Pretendard"/>
                <a:ea typeface="Pretendard"/>
              </a:rPr>
              <a:t>PROJECT 06 · 개인 (fossil-fuel · kangminlog-ops · dodgers-labs)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Pretendard"/>
                <a:ea typeface="Pretendard"/>
              </a:rPr>
              <a:t>운영 · 인프라 — 클라우드에서 내려와 직접 굴린다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7A"/>
                </a:solidFill>
                <a:latin typeface="Pretendard"/>
                <a:ea typeface="Pretendard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E40AF"/>
                </a:solidFill>
                <a:latin typeface="Pretendard"/>
                <a:ea typeface="Pretendard"/>
              </a:rPr>
              <a:t>매니지드가 대신 해주던 일의 목록을 만들고, 홈서버 한 대에서 장애를 겪고 근본 원인까지 파고든 기록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594360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150" b="0">
                <a:solidFill>
                  <a:srgbClr val="1F2A44"/>
                </a:solidFill>
                <a:latin typeface="Pretendard"/>
                <a:ea typeface="Pretendard"/>
              </a:rPr>
              <a:t>fossil-fuel — AWS(EC2·RDS·ALB)로 5개월 운영하던 학과 동아리 서비스를 프리티어 종료를 계기로 미니 PC 1대로 이전. 고정 운영비 월 0원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150" b="0">
                <a:solidFill>
                  <a:srgbClr val="1F2A44"/>
                </a:solidFill>
                <a:latin typeface="Pretendard"/>
                <a:ea typeface="Pretendard"/>
              </a:rPr>
              <a:t>1세대(AWS 179커밋) 히스토리를 legacy 브랜치로 보존하고, 이전 중 드러난 결함 수정을 2세대(78커밋)의 주 내용으로 삼았다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150" b="0">
                <a:solidFill>
                  <a:srgbClr val="1F2A44"/>
                </a:solidFill>
                <a:latin typeface="Pretendard"/>
                <a:ea typeface="Pretendard"/>
              </a:rPr>
              <a:t>kangminlog-ops — 홈서버 1대의 절차·인시던트·자동화를 단일 저장소로 추적. 인시던트 6건 · 런북 9종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150" b="0">
                <a:solidFill>
                  <a:srgbClr val="1F2A44"/>
                </a:solidFill>
                <a:latin typeface="Pretendard"/>
                <a:ea typeface="Pretendard"/>
              </a:rPr>
              <a:t>대표 사고: ClickHouse 쓰기 증폭 700배 — 6.9일간 NVMe에 327GB 쓰기. 실제 사용자 데이터는 0.8%(26MiB)뿐이고 99.2%가 ClickHouse 자기 로그였다 (원인 분해는 다음 장)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150" b="0">
                <a:solidFill>
                  <a:srgbClr val="1F2A44"/>
                </a:solidFill>
                <a:latin typeface="Pretendard"/>
                <a:ea typeface="Pretendard"/>
              </a:rPr>
              <a:t>dodgers-labs — 공격면이 큰 컴포넌트(파일 파서·LLM 추론·인증 DB)만 분리해 상시 노출하지 않고 온디맨드로만 기동하는 구조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371600"/>
            <a:ext cx="4572000" cy="4434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57276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40AF"/>
                </a:solidFill>
                <a:latin typeface="Pretendard"/>
                <a:ea typeface="Pretendard"/>
              </a:rPr>
              <a:t>핵심 성과 · 실측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011680"/>
            <a:ext cx="40690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NVMe 쓰기 -97% — 배치 확대 · system 로그 정리 · TTL 설정 후 실측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다른 서버의 NVMe 장애 사례와 홈서버 사고를 대조 분석해 같은 패턴임을 문서화 (식별 정보 제거 후)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백업 cron이 조용히 실패하던 것, 자동 PR이 무음으로 실패하던 것 — "알림 없는 실패"를 인시던트로 별도 기록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CI는 H2로 DB 없이 기동하도록 구성해 외부 의존 없이 검증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dodgers-labs 전 서비스에 OpenTelemetry 트레이싱 적용, PII 탐지·마스킹은 한국어 NER + 정규식 병행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94360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B667A"/>
                </a:solidFill>
                <a:latin typeface="Pretendard"/>
                <a:ea typeface="Pretendard"/>
              </a:rPr>
              <a:t>STACK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00200" y="5888736"/>
            <a:ext cx="887882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Java 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97810" y="5888736"/>
            <a:ext cx="1568196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Spring Boot 3.5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5734" y="5888736"/>
            <a:ext cx="1398117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PostgreSQL 16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83579" y="5888736"/>
            <a:ext cx="1483156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Docker Compose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6463" y="5888736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ClickHouse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29191" y="5888736"/>
            <a:ext cx="1398117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OpenTelemetry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37036" y="5888736"/>
            <a:ext cx="802843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restic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00200" y="6309360"/>
            <a:ext cx="887882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systemd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97810" y="6309360"/>
            <a:ext cx="1057960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Tailscale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65498" y="6309360"/>
            <a:ext cx="1483156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iptables · UFW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Pretendard"/>
                <a:ea typeface="Pretendard"/>
              </a:rPr>
              <a:t>PROJECT 06 · 개인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Pretendard"/>
                <a:ea typeface="Pretendard"/>
              </a:rPr>
              <a:t>ClickHouse 쓰기 증폭 700배 — 진단에서 조치까지 —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7A"/>
                </a:solidFill>
                <a:latin typeface="Pretendard"/>
                <a:ea typeface="Pretendard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F2A44"/>
                </a:solidFill>
                <a:latin typeface="Pretendard"/>
                <a:ea typeface="Pretendard"/>
              </a:rPr>
              <a:t>① 증상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6.9일 · NVMe 쓰기 327GB
78번 서버 장애 패턴 재현 위험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164592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F2A44"/>
                </a:solidFill>
                <a:latin typeface="Pretendard"/>
                <a:ea typeface="Pretendard"/>
              </a:rPr>
              <a:t>② 점유 실체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system 로그 3.13GiB = 99.2%
실사용 otel 26MiB = 0.8%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64592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F2A44"/>
                </a:solidFill>
                <a:latin typeface="Pretendard"/>
                <a:ea typeface="Pretendard"/>
              </a:rPr>
              <a:t>③ 쓰기 실체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otel_traces 21MiB ↔ 7일 merge 14.22GiB
= 약 700배 증폭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66960" y="164592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F2A44"/>
                </a:solidFill>
                <a:latin typeface="Pretendard"/>
                <a:ea typeface="Pretendard"/>
              </a:rPr>
              <a:t>④ 빈도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merge 25,013회
평균 4초 1회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2103120"/>
            <a:ext cx="640079" cy="0"/>
          </a:xfrm>
          <a:prstGeom prst="line">
            <a:avLst/>
          </a:prstGeom>
          <a:ln w="19050">
            <a:solidFill>
              <a:srgbClr val="5B66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217919" y="2103120"/>
            <a:ext cx="640081" cy="0"/>
          </a:xfrm>
          <a:prstGeom prst="line">
            <a:avLst/>
          </a:prstGeom>
          <a:ln w="19050">
            <a:solidFill>
              <a:srgbClr val="5B66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326880" y="2103120"/>
            <a:ext cx="640080" cy="0"/>
          </a:xfrm>
          <a:prstGeom prst="line">
            <a:avLst/>
          </a:prstGeom>
          <a:ln w="19050">
            <a:solidFill>
              <a:srgbClr val="5B66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0080" y="3063240"/>
            <a:ext cx="64922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182112"/>
            <a:ext cx="6126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F2A44"/>
                </a:solidFill>
                <a:latin typeface="Pretendard"/>
                <a:ea typeface="Pretendard"/>
              </a:rPr>
              <a:t>원인 1 — OTel 배치가 공격적</a:t>
            </a:r>
          </a:p>
          <a:p>
            <a:pPr algn="l"/>
            <a:r>
              <a:rPr sz="1000" b="0">
                <a:solidFill>
                  <a:srgbClr val="5B667A"/>
                </a:solidFill>
                <a:latin typeface="Pretendard"/>
                <a:ea typeface="Pretendard"/>
              </a:rPr>
              <a:t>send_batch_size 5000 · timeout 10s → 작은 part 다량 생성 → merge 지옥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32320" y="3419856"/>
            <a:ext cx="640080" cy="0"/>
          </a:xfrm>
          <a:prstGeom prst="line">
            <a:avLst/>
          </a:prstGeom>
          <a:ln w="19050">
            <a:solidFill>
              <a:srgbClr val="5B66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080" y="3904488"/>
            <a:ext cx="64922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023360"/>
            <a:ext cx="6126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F2A44"/>
                </a:solidFill>
                <a:latin typeface="Pretendard"/>
                <a:ea typeface="Pretendard"/>
              </a:rPr>
              <a:t>원인 2 — system 로그 전부 활성</a:t>
            </a:r>
          </a:p>
          <a:p>
            <a:pPr algn="l"/>
            <a:r>
              <a:rPr sz="1000" b="0">
                <a:solidFill>
                  <a:srgbClr val="5B667A"/>
                </a:solidFill>
                <a:latin typeface="Pretendard"/>
                <a:ea typeface="Pretendard"/>
              </a:rPr>
              <a:t>text_log · trace_log · asynchronous_metric_log 가 자기 자신의 쓰기 부하를 만든다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0" y="4261104"/>
            <a:ext cx="640080" cy="0"/>
          </a:xfrm>
          <a:prstGeom prst="line">
            <a:avLst/>
          </a:prstGeom>
          <a:ln w="19050">
            <a:solidFill>
              <a:srgbClr val="5B66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0080" y="4745736"/>
            <a:ext cx="64922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864608"/>
            <a:ext cx="6126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F2A44"/>
                </a:solidFill>
                <a:latin typeface="Pretendard"/>
                <a:ea typeface="Pretendard"/>
              </a:rPr>
              <a:t>원인 3 — system 테이블 TTL 미설정</a:t>
            </a:r>
          </a:p>
          <a:p>
            <a:pPr algn="l"/>
            <a:r>
              <a:rPr sz="1000" b="0">
                <a:solidFill>
                  <a:srgbClr val="5B667A"/>
                </a:solidFill>
                <a:latin typeface="Pretendard"/>
                <a:ea typeface="Pretendard"/>
              </a:rPr>
              <a:t>기본 30일 보존 + merge 대상 무한 증가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32320" y="5102352"/>
            <a:ext cx="640080" cy="0"/>
          </a:xfrm>
          <a:prstGeom prst="line">
            <a:avLst/>
          </a:prstGeom>
          <a:ln w="19050">
            <a:solidFill>
              <a:srgbClr val="5B66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772400" y="3063240"/>
            <a:ext cx="3840480" cy="214884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587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F2A44"/>
                </a:solidFill>
                <a:latin typeface="Pretendard"/>
                <a:ea typeface="Pretendard"/>
              </a:rPr>
              <a:t>조치 후 실측</a:t>
            </a:r>
          </a:p>
          <a:p>
            <a:pPr algn="ctr"/>
            <a:r>
              <a:rPr sz="1150" b="0">
                <a:solidFill>
                  <a:srgbClr val="5B667A"/>
                </a:solidFill>
                <a:latin typeface="Pretendard"/>
                <a:ea typeface="Pretendard"/>
              </a:rPr>
              <a:t>배치 확대 · system 로그 정리 · TTL 설정
NVMe 쓰기  -97%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Pretendard"/>
                <a:ea typeface="Pretendard"/>
              </a:rPr>
              <a:t>이 사고를 회사 서버 NVMe 장애 사례와 대조해 같은 패턴임을 문서화했다 — 회사 식별 정보는 제거한 뒤에만 기록한다.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Pretendard"/>
                <a:ea typeface="Pretendard"/>
              </a:rPr>
              <a:t>INCIDENT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Pretendard"/>
                <a:ea typeface="Pretendard"/>
              </a:rPr>
              <a:t>침해사고 대응 실사례 — 내가 만든 시스템의 결함을 내가 찾았다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7A"/>
                </a:solidFill>
                <a:latin typeface="Pretendard"/>
                <a:ea typeface="Pretendard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E40AF"/>
                </a:solidFill>
                <a:latin typeface="Pretendard"/>
                <a:ea typeface="Pretendard"/>
              </a:rPr>
              <a:t>시험용으로 띄워 둔 수신 바이너리가 모든 인터페이스에서 인증 없이 로그를 받고 있었다. 탐지부터 재발 방지까지 전 과정을 문서로 남겼다.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F2A44"/>
                </a:solidFill>
                <a:latin typeface="Pretendard"/>
                <a:ea typeface="Pretendard"/>
              </a:rPr>
              <a:t>탐지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자체 점검 중
무인증 엔드포인트 발견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53511" y="19659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F2A44"/>
                </a:solidFill>
                <a:latin typeface="Pretendard"/>
                <a:ea typeface="Pretendard"/>
              </a:rPr>
              <a:t>증거 수집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재현 · 바이너리 검사
저장 데이터 확인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51760" y="2423160"/>
            <a:ext cx="301751" cy="0"/>
          </a:xfrm>
          <a:prstGeom prst="line">
            <a:avLst/>
          </a:prstGeom>
          <a:ln w="19050">
            <a:solidFill>
              <a:srgbClr val="5B66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266944" y="19659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F2A44"/>
                </a:solidFill>
                <a:latin typeface="Pretendard"/>
                <a:ea typeface="Pretendard"/>
              </a:rPr>
              <a:t>영향 산정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심각도 High
노출 범위 확정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65191" y="2423160"/>
            <a:ext cx="301753" cy="0"/>
          </a:xfrm>
          <a:prstGeom prst="line">
            <a:avLst/>
          </a:prstGeom>
          <a:ln w="19050">
            <a:solidFill>
              <a:srgbClr val="5B66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580375" y="19659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F2A44"/>
                </a:solidFill>
                <a:latin typeface="Pretendard"/>
                <a:ea typeface="Pretendard"/>
              </a:rPr>
              <a:t>조치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서버 측 수신 차단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278624" y="2423160"/>
            <a:ext cx="301751" cy="0"/>
          </a:xfrm>
          <a:prstGeom prst="line">
            <a:avLst/>
          </a:prstGeom>
          <a:ln w="19050">
            <a:solidFill>
              <a:srgbClr val="5B66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893807" y="19659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EAF1FD"/>
          </a:solidFill>
          <a:ln w="15875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1F2A44"/>
                </a:solidFill>
                <a:latin typeface="Pretendard"/>
                <a:ea typeface="Pretendard"/>
              </a:rPr>
              <a:t>재발 방지</a:t>
            </a:r>
          </a:p>
          <a:p>
            <a:pPr algn="ctr"/>
            <a:r>
              <a:rPr sz="900" b="0">
                <a:solidFill>
                  <a:srgbClr val="5B667A"/>
                </a:solidFill>
                <a:latin typeface="Pretendard"/>
                <a:ea typeface="Pretendard"/>
              </a:rPr>
              <a:t>코드 레벨 수정 커밋
상태 추적 지속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92055" y="2423160"/>
            <a:ext cx="301752" cy="0"/>
          </a:xfrm>
          <a:prstGeom prst="line">
            <a:avLst/>
          </a:prstGeom>
          <a:ln w="19050">
            <a:solidFill>
              <a:srgbClr val="5B66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329184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Pretendard"/>
                <a:ea typeface="Pretendard"/>
              </a:rPr>
              <a:t>증거 4건으로 입증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703320"/>
            <a:ext cx="5394960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100" b="0">
                <a:solidFill>
                  <a:srgbClr val="1F2A44"/>
                </a:solidFill>
                <a:latin typeface="Pretendard"/>
                <a:ea typeface="Pretendard"/>
              </a:rPr>
              <a:t>① 임의 JSON을 수신 엔드포인트로 전송 → 정상 수락 + 파일 저장 재현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100" b="0">
                <a:solidFill>
                  <a:srgbClr val="1F2A44"/>
                </a:solidFill>
                <a:latin typeface="Pretendard"/>
                <a:ea typeface="Pretendard"/>
              </a:rPr>
              <a:t>② 바이너리 문자열 검사 — auth · token · api_key · bearer · secret 패턴 0건. 인증 로직 부재를 코드가 아닌 산출물로 입증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100" b="0">
                <a:solidFill>
                  <a:srgbClr val="1F2A44"/>
                </a:solidFill>
                <a:latin typeface="Pretendard"/>
                <a:ea typeface="Pretendard"/>
              </a:rPr>
              <a:t>③ 외부에서 수집된 Windows 이벤트 로그 17,276건이 평문 저장돼 있음을 확인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563EB"/>
                </a:solidFill>
                <a:latin typeface="Pretendard"/>
                <a:ea typeface="Pretendard"/>
              </a:rPr>
              <a:t>·  </a:t>
            </a:r>
            <a:r>
              <a:rPr sz="1100" b="0">
                <a:solidFill>
                  <a:srgbClr val="1F2A44"/>
                </a:solidFill>
                <a:latin typeface="Pretendard"/>
                <a:ea typeface="Pretendard"/>
              </a:rPr>
              <a:t>④ 로그온/로그오프 이벤트와 사용자 SID·프로세스명 등 민감 필드가 원문 그대로 포함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3291840"/>
            <a:ext cx="5029200" cy="2514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3520440"/>
            <a:ext cx="44805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40AF"/>
                </a:solidFill>
                <a:latin typeface="Pretendard"/>
                <a:ea typeface="Pretendard"/>
              </a:rPr>
              <a:t>왜 이 사례를 넣는가</a:t>
            </a:r>
          </a:p>
          <a:p>
            <a:pPr algn="l"/>
            <a:r>
              <a:rPr sz="1150" b="0">
                <a:solidFill>
                  <a:srgbClr val="1F2A44"/>
                </a:solidFill>
                <a:latin typeface="Pretendard"/>
                <a:ea typeface="Pretendard"/>
              </a:rPr>
              <a:t>탐지 → 증거 → 영향 산정 → 조치 → 재발 방지의 전 과정이 남아 있다. 침해사고 대응(IR) 절차 그 자체다.</a:t>
            </a:r>
          </a:p>
          <a:p>
            <a:pPr algn="l"/>
            <a:r>
              <a:rPr sz="1150" b="0">
                <a:solidFill>
                  <a:srgbClr val="1F2A44"/>
                </a:solidFill>
                <a:latin typeface="Pretendard"/>
                <a:ea typeface="Pretendard"/>
              </a:rPr>
              <a:t>남의 사고가 아니라 내가 만든 시스템의 결함을, 내가 찾아 기록했다. 자기 결과물의 취약점을 공개 기록으로 남기는 쪽을 택했다.</a:t>
            </a:r>
          </a:p>
          <a:p>
            <a:pPr algn="l"/>
            <a:r>
              <a:rPr sz="1100" b="0">
                <a:solidFill>
                  <a:srgbClr val="5B667A"/>
                </a:solidFill>
                <a:latin typeface="Pretendard"/>
                <a:ea typeface="Pretendard"/>
              </a:rPr>
              <a:t>사고 문서에는 공인 IP와 수집된 이벤트 필드가 들어 있어, 저장소 공개 시 마스킹이 선결 조건임을 함께 기록해 두었다.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7132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Pretendard"/>
                <a:ea typeface="Pretendard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Pretendard"/>
                <a:ea typeface="Pretendard"/>
              </a:rPr>
              <a:t>스택 총괄 · 일하는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67A"/>
                </a:solidFill>
                <a:latin typeface="Pretendard"/>
                <a:ea typeface="Pretendard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E40AF"/>
                </a:solidFill>
                <a:latin typeface="Pretendard"/>
                <a:ea typeface="Pretendard"/>
              </a:rPr>
              <a:t>보안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1325880"/>
            <a:ext cx="2163470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SIEM (Loki·OpenSearch)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96358" y="1325880"/>
            <a:ext cx="1908352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SOAR (Shuffle·플레이북)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14438" y="1325880"/>
            <a:ext cx="1823313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EDR (User-mode 센서)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7479" y="1325880"/>
            <a:ext cx="1313078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HIDS (Wazuh)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1746504"/>
            <a:ext cx="1993391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NIDS (Suricata·Zeek)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79" y="1746504"/>
            <a:ext cx="1993391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TI (MISP·TAXII/STIX)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398" y="1746504"/>
            <a:ext cx="1568196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케이스관리 (TheHive)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7322" y="1746504"/>
            <a:ext cx="1313078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MITRE ATT&amp;CK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30128" y="1746504"/>
            <a:ext cx="887882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디지털 포렌식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167128"/>
            <a:ext cx="1483156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AES 구현·CAVP 검증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16044" y="2167128"/>
            <a:ext cx="2078431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fail2ban·UFW·iptables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624328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E40AF"/>
                </a:solidFill>
                <a:latin typeface="Pretendard"/>
                <a:ea typeface="Pretendard"/>
              </a:rPr>
              <a:t>AI / LLM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23160" y="2578608"/>
            <a:ext cx="1057960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llama.cpp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90848" y="2578608"/>
            <a:ext cx="802843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Ollama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03419" y="2578608"/>
            <a:ext cx="632764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vLLM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45911" y="2578608"/>
            <a:ext cx="802843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Qdrant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8482" y="2578608"/>
            <a:ext cx="972921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ChromaDB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41131" y="2578608"/>
            <a:ext cx="802843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BGE-M3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53702" y="2578608"/>
            <a:ext cx="887882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RRF 리랭킹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51312" y="2578608"/>
            <a:ext cx="1313078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QLoRA / PEFT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23160" y="2999232"/>
            <a:ext cx="1057960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온디바이스 LLM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90848" y="2999232"/>
            <a:ext cx="887882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PII 마스킹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88458" y="2999232"/>
            <a:ext cx="887882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프롬프트 보안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456432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E40AF"/>
                </a:solidFill>
                <a:latin typeface="Pretendard"/>
                <a:ea typeface="Pretendard"/>
              </a:rPr>
              <a:t>언어 · 백엔드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23160" y="3410712"/>
            <a:ext cx="1568196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Python 142,550줄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01084" y="3410712"/>
            <a:ext cx="1823313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TypeScript 67,134줄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4125" y="3410712"/>
            <a:ext cx="462686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Go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06539" y="3410712"/>
            <a:ext cx="1398117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Shell 19,711줄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14384" y="3410712"/>
            <a:ext cx="1313078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Java 11,456줄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37190" y="3410712"/>
            <a:ext cx="1568196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C++ 2,840줄 (본인)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423160" y="3831336"/>
            <a:ext cx="887882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FastAPI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20770" y="3831336"/>
            <a:ext cx="1228039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Spring Boot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58537" y="3831336"/>
            <a:ext cx="717803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React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4288536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E40AF"/>
                </a:solidFill>
                <a:latin typeface="Pretendard"/>
                <a:ea typeface="Pretendard"/>
              </a:rPr>
              <a:t>데이터 · 인프라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423160" y="4242816"/>
            <a:ext cx="1398117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OpenTelemetry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931005" y="4242816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ClickHouse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83733" y="4242816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Prometheus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36461" y="4242816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PostgreSQL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89189" y="4242816"/>
            <a:ext cx="717803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Redis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16720" y="4242816"/>
            <a:ext cx="1483156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Docker Compose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109604" y="4242816"/>
            <a:ext cx="887882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systemd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423160" y="4663440"/>
            <a:ext cx="717803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nginx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50691" y="4663440"/>
            <a:ext cx="802843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restic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163262" y="4663440"/>
            <a:ext cx="1057960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Tailscale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330950" y="4663440"/>
            <a:ext cx="1483156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44"/>
                </a:solidFill>
                <a:latin typeface="Pretendard"/>
                <a:ea typeface="Pretendard"/>
              </a:rPr>
              <a:t>GitHub Actions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7240" y="5157216"/>
            <a:ext cx="10332720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0120" y="5294376"/>
            <a:ext cx="239572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Pretendard"/>
                <a:ea typeface="Pretendard"/>
              </a:rPr>
              <a:t>정확함 &gt; 영리함</a:t>
            </a:r>
          </a:p>
          <a:p>
            <a:pPr algn="l"/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스펙을 읽고 경계를 검증하고 운영에서 확인한다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02152" y="5294376"/>
            <a:ext cx="239572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Pretendard"/>
                <a:ea typeface="Pretendard"/>
              </a:rPr>
              <a:t>과장하지 않는다</a:t>
            </a:r>
          </a:p>
          <a:p>
            <a:pPr algn="l"/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edr-lab 30만 줄 중 본인 코드 2,840줄임을 먼저 적는다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44183" y="5294376"/>
            <a:ext cx="239572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Pretendard"/>
                <a:ea typeface="Pretendard"/>
              </a:rPr>
              <a:t>안 되는 것도 결과물</a:t>
            </a:r>
          </a:p>
          <a:p>
            <a:pPr algn="l"/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Ring 3의 한계·미커버 이벤트를 사각으로 공개한다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86216" y="5294376"/>
            <a:ext cx="239572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Pretendard"/>
                <a:ea typeface="Pretendard"/>
              </a:rPr>
              <a:t>재현 가능성</a:t>
            </a:r>
          </a:p>
          <a:p>
            <a:pPr algn="l"/>
            <a:r>
              <a:rPr sz="1050" b="0">
                <a:solidFill>
                  <a:srgbClr val="1F2A44"/>
                </a:solidFill>
                <a:latin typeface="Pretendard"/>
                <a:ea typeface="Pretendard"/>
              </a:rPr>
              <a:t>원클릭 설치·회귀 테스트·5축 문서를 저장소마다 유지한다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011680"/>
            <a:ext cx="685800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  <a:ea typeface="Pretendard"/>
              </a:rPr>
              <a:t>보안 스택을 설계부터 운영까지 직접 만들어 본 엔지니어입니다.</a:t>
            </a:r>
          </a:p>
          <a:p>
            <a:pPr algn="l"/>
            <a:r>
              <a:rPr sz="1500" b="0">
                <a:solidFill>
                  <a:srgbClr val="C9D6EE"/>
                </a:solidFill>
                <a:latin typeface="Pretendard"/>
                <a:ea typeface="Pretendard"/>
              </a:rPr>
              <a:t>SIEM·SOAR·EDR·포렌식을 제품에서 개발하고, 같은 것을 개인 서버에 오픈소스로 조립해</a:t>
            </a:r>
          </a:p>
          <a:p>
            <a:pPr algn="l"/>
            <a:r>
              <a:rPr sz="1500" b="0">
                <a:solidFill>
                  <a:srgbClr val="C9D6EE"/>
                </a:solidFill>
                <a:latin typeface="Pretendard"/>
                <a:ea typeface="Pretendard"/>
              </a:rPr>
              <a:t>무엇이 되고 무엇이 안 되는지를 코드로 확인합니다.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107899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  <a:ea typeface="Pretendard"/>
              </a:rPr>
              <a:t>GitHub   github.com/adorahelen</a:t>
            </a:r>
          </a:p>
          <a:p>
            <a:pPr algn="l"/>
            <a:r>
              <a:rPr sz="1400" b="0">
                <a:solidFill>
                  <a:srgbClr val="C9D6EE"/>
                </a:solidFill>
                <a:latin typeface="Pretendard"/>
                <a:ea typeface="Pretendard"/>
              </a:rPr>
              <a:t>공개 저장소   github.com/adorahelen/siem-trinity-public · /ai-console-public</a:t>
            </a:r>
          </a:p>
          <a:p>
            <a:pPr algn="l"/>
            <a:r>
              <a:rPr sz="1400" b="0">
                <a:solidFill>
                  <a:srgbClr val="C9D6EE"/>
                </a:solidFill>
                <a:latin typeface="Pretendard"/>
                <a:ea typeface="Pretendard"/>
              </a:rPr>
              <a:t>Email    adorahelenmin@naver.com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9BBD"/>
                </a:solidFill>
                <a:latin typeface="Pretendard"/>
                <a:ea typeface="Pretendard"/>
              </a:rPr>
              <a:t>위 2건은 로그인 없이 바로 열람 가능합니다 — 나머지 저장소는 private이라 요청 시 초대해 드립니다.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